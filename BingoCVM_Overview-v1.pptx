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1" r:id="rId3"/>
    <p:sldId id="258" r:id="rId4"/>
    <p:sldId id="260" r:id="rId5"/>
    <p:sldId id="259" r:id="rId6"/>
    <p:sldId id="257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83" r:id="rId15"/>
    <p:sldId id="287" r:id="rId16"/>
    <p:sldId id="28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033" autoAdjust="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F314A5-4ED0-4CAE-A011-4AFB84B0B065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7CA149-F358-4193-A2B2-D05ADD556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299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CA149-F358-4193-A2B2-D05ADD55641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4625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CA149-F358-4193-A2B2-D05ADD55641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557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래픽 1">
            <a:extLst>
              <a:ext uri="{FF2B5EF4-FFF2-40B4-BE49-F238E27FC236}">
                <a16:creationId xmlns:a16="http://schemas.microsoft.com/office/drawing/2014/main" id="{3078231A-CE7B-F290-B0D7-FDADB9C3673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EE343263-136D-91C4-478A-F6FDCA3487C9}"/>
              </a:ext>
            </a:extLst>
          </p:cNvPr>
          <p:cNvGrpSpPr/>
          <p:nvPr userDrawn="1"/>
        </p:nvGrpSpPr>
        <p:grpSpPr>
          <a:xfrm>
            <a:off x="0" y="1"/>
            <a:ext cx="1053064" cy="1150825"/>
            <a:chOff x="0" y="1"/>
            <a:chExt cx="1053064" cy="1150825"/>
          </a:xfrm>
        </p:grpSpPr>
        <p:sp>
          <p:nvSpPr>
            <p:cNvPr id="8" name="화살표: 갈매기형 수장 7">
              <a:extLst>
                <a:ext uri="{FF2B5EF4-FFF2-40B4-BE49-F238E27FC236}">
                  <a16:creationId xmlns:a16="http://schemas.microsoft.com/office/drawing/2014/main" id="{D615F399-44E7-1CF1-8036-CE294B816991}"/>
                </a:ext>
              </a:extLst>
            </p:cNvPr>
            <p:cNvSpPr/>
            <p:nvPr/>
          </p:nvSpPr>
          <p:spPr>
            <a:xfrm>
              <a:off x="556697" y="1"/>
              <a:ext cx="496367" cy="464343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EDA9F025-B6AE-78D6-E8FF-AE833A6C85C1}"/>
                </a:ext>
              </a:extLst>
            </p:cNvPr>
            <p:cNvSpPr/>
            <p:nvPr/>
          </p:nvSpPr>
          <p:spPr>
            <a:xfrm flipH="1">
              <a:off x="0" y="496367"/>
              <a:ext cx="490538" cy="654459"/>
            </a:xfrm>
            <a:custGeom>
              <a:avLst/>
              <a:gdLst>
                <a:gd name="connsiteX0" fmla="*/ 327230 w 526846"/>
                <a:gd name="connsiteY0" fmla="*/ 0 h 654459"/>
                <a:gd name="connsiteX1" fmla="*/ 0 w 526846"/>
                <a:gd name="connsiteY1" fmla="*/ 0 h 654459"/>
                <a:gd name="connsiteX2" fmla="*/ 327230 w 526846"/>
                <a:gd name="connsiteY2" fmla="*/ 327230 h 654459"/>
                <a:gd name="connsiteX3" fmla="*/ 0 w 526846"/>
                <a:gd name="connsiteY3" fmla="*/ 654459 h 654459"/>
                <a:gd name="connsiteX4" fmla="*/ 327230 w 526846"/>
                <a:gd name="connsiteY4" fmla="*/ 654459 h 654459"/>
                <a:gd name="connsiteX5" fmla="*/ 526846 w 526846"/>
                <a:gd name="connsiteY5" fmla="*/ 454843 h 654459"/>
                <a:gd name="connsiteX6" fmla="*/ 526846 w 526846"/>
                <a:gd name="connsiteY6" fmla="*/ 199617 h 654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26846" h="654459">
                  <a:moveTo>
                    <a:pt x="327230" y="0"/>
                  </a:moveTo>
                  <a:lnTo>
                    <a:pt x="0" y="0"/>
                  </a:lnTo>
                  <a:lnTo>
                    <a:pt x="327230" y="327230"/>
                  </a:lnTo>
                  <a:lnTo>
                    <a:pt x="0" y="654459"/>
                  </a:lnTo>
                  <a:lnTo>
                    <a:pt x="327230" y="654459"/>
                  </a:lnTo>
                  <a:lnTo>
                    <a:pt x="526846" y="454843"/>
                  </a:lnTo>
                  <a:lnTo>
                    <a:pt x="526846" y="199617"/>
                  </a:lnTo>
                  <a:close/>
                </a:path>
              </a:pathLst>
            </a:custGeom>
            <a:solidFill>
              <a:srgbClr val="3A99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10" name="평행 사변형 9">
              <a:extLst>
                <a:ext uri="{FF2B5EF4-FFF2-40B4-BE49-F238E27FC236}">
                  <a16:creationId xmlns:a16="http://schemas.microsoft.com/office/drawing/2014/main" id="{0CA4EF81-C5C2-B3E1-B8F3-52DDCFEB8694}"/>
                </a:ext>
              </a:extLst>
            </p:cNvPr>
            <p:cNvSpPr/>
            <p:nvPr/>
          </p:nvSpPr>
          <p:spPr>
            <a:xfrm>
              <a:off x="209551" y="321343"/>
              <a:ext cx="447674" cy="144010"/>
            </a:xfrm>
            <a:prstGeom prst="parallelogram">
              <a:avLst>
                <a:gd name="adj" fmla="val 103227"/>
              </a:avLst>
            </a:prstGeom>
            <a:solidFill>
              <a:srgbClr val="C22E7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6" name="직사각형 5">
            <a:extLst>
              <a:ext uri="{FF2B5EF4-FFF2-40B4-BE49-F238E27FC236}">
                <a16:creationId xmlns:a16="http://schemas.microsoft.com/office/drawing/2014/main" id="{614F6F54-D19A-8CA2-7514-F04660032773}"/>
              </a:ext>
            </a:extLst>
          </p:cNvPr>
          <p:cNvSpPr/>
          <p:nvPr userDrawn="1"/>
        </p:nvSpPr>
        <p:spPr>
          <a:xfrm>
            <a:off x="11304119" y="6488669"/>
            <a:ext cx="529924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latinLnBrk="0">
              <a:defRPr/>
            </a:pPr>
            <a:fld id="{113367D3-3FDC-4E54-AEC0-22868DE84297}" type="slidenum">
              <a:rPr lang="ko-KR" altLang="en-US" sz="1000" kern="0" spc="-50" smtClean="0">
                <a:ln w="3175">
                  <a:solidFill>
                    <a:schemeClr val="bg1">
                      <a:lumMod val="50000"/>
                      <a:alpha val="1000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pPr algn="ctr" latinLnBrk="0">
                <a:defRPr/>
              </a:pPr>
              <a:t>‹#›</a:t>
            </a:fld>
            <a:endParaRPr lang="en-US" altLang="ko-KR" sz="1000" kern="0" spc="-50">
              <a:ln w="3175">
                <a:solidFill>
                  <a:schemeClr val="bg1">
                    <a:lumMod val="50000"/>
                    <a:alpha val="1000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91975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5989320"/>
            <a:ext cx="12191695" cy="38100"/>
          </a:xfrm>
          <a:prstGeom prst="rect">
            <a:avLst/>
          </a:prstGeom>
          <a:solidFill>
            <a:srgbClr val="C80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6B81"/>
                </a:solidFill>
                <a:latin typeface="맑은 고딕"/>
              </a:rPr>
              <a:t>RISK-BASED VULNERABILITY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106070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</a:pPr>
            <a:r>
              <a:rPr sz="2700" b="1">
                <a:solidFill>
                  <a:srgbClr val="FFFFFF"/>
                </a:solidFill>
                <a:latin typeface="맑은 고딕"/>
              </a:rPr>
              <a:t>중요한 것은 무엇이 존재하는가가 아니라,</a:t>
            </a:r>
            <a:br/>
            <a:r>
              <a:rPr sz="2700" b="1">
                <a:solidFill>
                  <a:srgbClr val="FF4757"/>
                </a:solidFill>
                <a:latin typeface="맑은 고딕"/>
              </a:rPr>
              <a:t>무엇을 먼저 해결해야 하는가입니다.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425332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dirty="0" err="1">
                <a:solidFill>
                  <a:srgbClr val="C7CBD6"/>
                </a:solidFill>
                <a:latin typeface="맑은 고딕"/>
              </a:rPr>
              <a:t>BingoCVM은</a:t>
            </a:r>
            <a:r>
              <a:rPr sz="1600" b="0" dirty="0">
                <a:solidFill>
                  <a:srgbClr val="C7CBD6"/>
                </a:solidFill>
                <a:latin typeface="맑은 고딕"/>
              </a:rPr>
              <a:t> IT </a:t>
            </a:r>
            <a:r>
              <a:rPr sz="1600" b="0" dirty="0" err="1">
                <a:solidFill>
                  <a:srgbClr val="C7CBD6"/>
                </a:solidFill>
                <a:latin typeface="맑은 고딕"/>
              </a:rPr>
              <a:t>자산</a:t>
            </a:r>
            <a:r>
              <a:rPr sz="1600" b="0" dirty="0">
                <a:solidFill>
                  <a:srgbClr val="C7CBD6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C7CBD6"/>
                </a:solidFill>
                <a:latin typeface="맑은 고딕"/>
              </a:rPr>
              <a:t>취약점을</a:t>
            </a:r>
            <a:r>
              <a:rPr sz="1600" b="0" dirty="0">
                <a:solidFill>
                  <a:srgbClr val="C7CBD6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C7CBD6"/>
                </a:solidFill>
                <a:latin typeface="맑은 고딕"/>
              </a:rPr>
              <a:t>지속적으로</a:t>
            </a:r>
            <a:r>
              <a:rPr sz="1600" b="0" dirty="0">
                <a:solidFill>
                  <a:srgbClr val="C7CBD6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C7CBD6"/>
                </a:solidFill>
                <a:latin typeface="맑은 고딕"/>
              </a:rPr>
              <a:t>검증하고</a:t>
            </a:r>
            <a:r>
              <a:rPr sz="1600" b="0" dirty="0">
                <a:solidFill>
                  <a:srgbClr val="C7CBD6"/>
                </a:solidFill>
                <a:latin typeface="맑은 고딕"/>
              </a:rPr>
              <a:t>, </a:t>
            </a:r>
            <a:r>
              <a:rPr sz="1600" b="0" dirty="0" err="1">
                <a:solidFill>
                  <a:srgbClr val="C7CBD6"/>
                </a:solidFill>
                <a:latin typeface="맑은 고딕"/>
              </a:rPr>
              <a:t>위험과</a:t>
            </a:r>
            <a:r>
              <a:rPr sz="1600" b="0" dirty="0">
                <a:solidFill>
                  <a:srgbClr val="C7CBD6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C7CBD6"/>
                </a:solidFill>
                <a:latin typeface="맑은 고딕"/>
              </a:rPr>
              <a:t>중요도를</a:t>
            </a:r>
            <a:r>
              <a:rPr sz="1600" b="0" dirty="0">
                <a:solidFill>
                  <a:srgbClr val="C7CBD6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C7CBD6"/>
                </a:solidFill>
                <a:latin typeface="맑은 고딕"/>
              </a:rPr>
              <a:t>분석하여</a:t>
            </a:r>
            <a:r>
              <a:rPr sz="1600" b="0" dirty="0">
                <a:solidFill>
                  <a:srgbClr val="C7CBD6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C7CBD6"/>
                </a:solidFill>
                <a:latin typeface="맑은 고딕"/>
              </a:rPr>
              <a:t>최우선</a:t>
            </a:r>
            <a:r>
              <a:rPr sz="1600" b="0" dirty="0">
                <a:solidFill>
                  <a:srgbClr val="C7CBD6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C7CBD6"/>
                </a:solidFill>
                <a:latin typeface="맑은 고딕"/>
              </a:rPr>
              <a:t>대응</a:t>
            </a:r>
            <a:r>
              <a:rPr sz="1600" b="0" dirty="0">
                <a:solidFill>
                  <a:srgbClr val="C7CBD6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C7CBD6"/>
                </a:solidFill>
                <a:latin typeface="맑은 고딕"/>
              </a:rPr>
              <a:t>과제를</a:t>
            </a:r>
            <a:r>
              <a:rPr sz="1600" b="0" dirty="0">
                <a:solidFill>
                  <a:srgbClr val="C7CBD6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C7CBD6"/>
                </a:solidFill>
                <a:latin typeface="맑은 고딕"/>
              </a:rPr>
              <a:t>결정합니다</a:t>
            </a:r>
            <a:r>
              <a:rPr sz="1600" b="0" dirty="0">
                <a:solidFill>
                  <a:srgbClr val="C7CBD6"/>
                </a:solidFill>
                <a:latin typeface="맑은 고딕"/>
              </a:rPr>
              <a:t>.</a:t>
            </a:r>
          </a:p>
        </p:txBody>
      </p:sp>
      <p:pic>
        <p:nvPicPr>
          <p:cNvPr id="7" name="Picture 6" descr="bingoCVM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208834"/>
            <a:ext cx="480558" cy="119542"/>
          </a:xfrm>
          <a:prstGeom prst="rect">
            <a:avLst/>
          </a:prstGeom>
        </p:spPr>
      </p:pic>
      <p:pic>
        <p:nvPicPr>
          <p:cNvPr id="8" name="Picture 7" descr="BINGOCVM-PHOTOSH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9760" y="1045035"/>
            <a:ext cx="4400000" cy="293333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1650000"/>
            <a:ext cx="900000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>
                <a:solidFill>
                  <a:srgbClr val="9AA0AE"/>
                </a:solidFill>
                <a:latin typeface="맑은 고딕"/>
              </a:rPr>
              <a:t>취약점이 많다는 것이, 위험이 크다는 의미는 아닙니다.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22960" y="723900"/>
            <a:ext cx="88900" cy="88900"/>
          </a:xfrm>
          <a:prstGeom prst="ellipse">
            <a:avLst/>
          </a:prstGeom>
          <a:solidFill>
            <a:srgbClr val="1554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6160" y="660400"/>
            <a:ext cx="54864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554B0"/>
                </a:solidFill>
                <a:latin typeface="맑은 고딕"/>
              </a:rPr>
              <a:t>ZERO TRUST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8755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A1D26"/>
                </a:solidFill>
                <a:latin typeface="맑은 고딕"/>
              </a:rPr>
              <a:t>몇 개의 취약점이 아니라, 무엇이 진짜 위험한지를 봅니다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2606040" cy="3931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2606040" cy="63500"/>
          </a:xfrm>
          <a:prstGeom prst="rect">
            <a:avLst/>
          </a:prstGeom>
          <a:solidFill>
            <a:srgbClr val="1554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048256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554B0"/>
                </a:solidFill>
                <a:latin typeface="맑은 고딕"/>
              </a:rPr>
              <a:t>01 · DISCOVER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95728"/>
            <a:ext cx="22402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A1D26"/>
                </a:solidFill>
                <a:latin typeface="맑은 고딕"/>
              </a:rPr>
              <a:t>무엇이 존재하는가?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4612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5A5C63"/>
                </a:solidFill>
                <a:latin typeface="맑은 고딕"/>
              </a:rPr>
              <a:t>보안 취약점 통합 탐지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57600"/>
            <a:ext cx="224028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5A5C63"/>
                </a:solidFill>
                <a:latin typeface="맑은 고딕"/>
              </a:rPr>
              <a:t>온프레미스부터 클라우드까지 IT 자산의 설정·소프트웨어·네트워크 스캔 취약점을 통합 진단합니다.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566160"/>
            <a:ext cx="182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5A5C63"/>
                </a:solidFill>
                <a:latin typeface="맑은 고딕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1828800"/>
            <a:ext cx="2606040" cy="3931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11880" y="1828800"/>
            <a:ext cx="2606040" cy="63500"/>
          </a:xfrm>
          <a:prstGeom prst="rect">
            <a:avLst/>
          </a:prstGeom>
          <a:solidFill>
            <a:srgbClr val="3BA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94760" y="2048256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BA2F2"/>
                </a:solidFill>
                <a:latin typeface="맑은 고딕"/>
              </a:rPr>
              <a:t>02 · VERIFY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2395728"/>
            <a:ext cx="22402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A1D26"/>
                </a:solidFill>
                <a:latin typeface="맑은 고딕"/>
              </a:rPr>
              <a:t>이 자산은 안전한가?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324612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5A5C63"/>
                </a:solidFill>
                <a:latin typeface="맑은 고딕"/>
              </a:rPr>
              <a:t>지속적인 보안 상태 검증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3657600"/>
            <a:ext cx="224028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5A5C63"/>
                </a:solidFill>
                <a:latin typeface="맑은 고딕"/>
              </a:rPr>
              <a:t>IT 자산의 보안 상태를 지속적으로 확인하고 환경에 맞는 다양한 방식으로 취약점을 진단합니다.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566160"/>
            <a:ext cx="182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5A5C63"/>
                </a:solidFill>
                <a:latin typeface="맑은 고딕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828800"/>
            <a:ext cx="2606040" cy="3931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0" y="1828800"/>
            <a:ext cx="2606040" cy="63500"/>
          </a:xfrm>
          <a:prstGeom prst="rect">
            <a:avLst/>
          </a:prstGeom>
          <a:solidFill>
            <a:srgbClr val="22B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0" y="2048256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2B87A"/>
                </a:solidFill>
                <a:latin typeface="맑은 고딕"/>
              </a:rPr>
              <a:t>03 · EVALUATE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395728"/>
            <a:ext cx="22402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A1D26"/>
                </a:solidFill>
                <a:latin typeface="맑은 고딕"/>
              </a:rPr>
              <a:t>무엇이 실제로 위험한가?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24612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5A5C63"/>
                </a:solidFill>
                <a:latin typeface="맑은 고딕"/>
              </a:rPr>
              <a:t>위협 및 위험도 분석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657600"/>
            <a:ext cx="224028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5A5C63"/>
                </a:solidFill>
                <a:latin typeface="맑은 고딕"/>
              </a:rPr>
              <a:t>보안 취약점의 기술적 심각도, 실제 악용 가능성, 공격 여부를 분석하고 자산의 중요도와 결합하여 실제 위험을 평가합니다.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3566160"/>
            <a:ext cx="182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5A5C63"/>
                </a:solidFill>
                <a:latin typeface="맑은 고딕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89720" y="1828800"/>
            <a:ext cx="2606040" cy="3931920"/>
          </a:xfrm>
          <a:prstGeom prst="roundRect">
            <a:avLst>
              <a:gd name="adj" fmla="val 7000"/>
            </a:avLst>
          </a:prstGeom>
          <a:solidFill>
            <a:srgbClr val="1A1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189720" y="1828800"/>
            <a:ext cx="2606040" cy="63500"/>
          </a:xfrm>
          <a:prstGeom prst="rect">
            <a:avLst/>
          </a:prstGeom>
          <a:solidFill>
            <a:srgbClr val="C80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72600" y="2048256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8001E"/>
                </a:solidFill>
                <a:latin typeface="맑은 고딕"/>
              </a:rPr>
              <a:t>04 · DECIDE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2395728"/>
            <a:ext cx="22402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</a:rPr>
              <a:t>무엇부터 대응할 것인가?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324612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7C9CE"/>
                </a:solidFill>
                <a:latin typeface="맑은 고딕"/>
              </a:rPr>
              <a:t>위험 기반 대응 우선순위 결정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600" y="3657600"/>
            <a:ext cx="224028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C7CBD6"/>
                </a:solidFill>
                <a:latin typeface="맑은 고딕"/>
              </a:rPr>
              <a:t>취약점 개수가 아니라 위험도와 자산 중요도를 기준으로 가장 먼저 대응해야 할 보안 과제를 결정합니다.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77295" y="635508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A5C63"/>
                </a:solidFill>
                <a:latin typeface="맑은 고딕"/>
              </a:rPr>
              <a:t>02</a:t>
            </a:r>
          </a:p>
        </p:txBody>
      </p:sp>
      <p:pic>
        <p:nvPicPr>
          <p:cNvPr id="34" name="Picture 33" descr="bingoCVM-logo-bklon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7201"/>
            <a:ext cx="683713" cy="170078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9FB74981-5056-010C-67DE-6F9D0E5E441B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0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61BC227-5F24-08C2-018E-9DAFA9F7FCAD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1277295" y="635508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6344" y="550000"/>
            <a:ext cx="400000" cy="40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>
                <a:solidFill>
                  <a:srgbClr val="3BA2F2"/>
                </a:solidFill>
                <a:latin typeface="Segoe MDL2 Assets"/>
              </a:rPr>
              <a:t>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6344" y="610000"/>
            <a:ext cx="54864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BA2F2"/>
                </a:solidFill>
                <a:latin typeface="맑은 고딕"/>
              </a:rPr>
              <a:t>UNIFIED SECURITY INTELLIGENCE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344" y="900000"/>
            <a:ext cx="1080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2151C"/>
                </a:solidFill>
                <a:latin typeface="맑은 고딕"/>
              </a:rPr>
              <a:t>다양한 보안 인텔리전스가 모여, 하나의 판단이 됩니다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6344" y="1560000"/>
            <a:ext cx="105156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6B7280"/>
                </a:solidFill>
                <a:latin typeface="맑은 고딕"/>
              </a:rPr>
              <a:t>시스템 설정, 소프트웨어, 네트워크스캔 취약점부터 기술적 심각도, 실제 악용 가능성, IT 자산 중요도까지 종합하여,</a:t>
            </a:r>
            <a:br/>
            <a:r>
              <a:rPr sz="1250" b="1">
                <a:solidFill>
                  <a:srgbClr val="3BA2F2"/>
                </a:solidFill>
                <a:latin typeface="맑은 고딕"/>
              </a:rPr>
              <a:t>BingoCVM</a:t>
            </a:r>
            <a:r>
              <a:rPr sz="1250" b="0">
                <a:solidFill>
                  <a:srgbClr val="6B7280"/>
                </a:solidFill>
                <a:latin typeface="맑은 고딕"/>
              </a:rPr>
              <a:t>만의 방식으로 위협을 판단하고 대응 우선순위를 결정합니다.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66344" y="2320000"/>
            <a:ext cx="2685000" cy="386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D9E9FC"/>
            </a:solidFill>
          </a:ln>
          <a:effectLst>
            <a:outerShdw blurRad="90000" dist="25000" dir="5400000" rotWithShape="0">
              <a:srgbClr val="9AA5B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696344" y="2600000"/>
            <a:ext cx="380000" cy="380000"/>
          </a:xfrm>
          <a:prstGeom prst="ellipse">
            <a:avLst/>
          </a:prstGeom>
          <a:solidFill>
            <a:srgbClr val="3BA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86344" y="2590000"/>
            <a:ext cx="400000" cy="40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>
                <a:solidFill>
                  <a:srgbClr val="FFFFFF"/>
                </a:solidFill>
                <a:latin typeface="Segoe MDL2 Assets"/>
              </a:rPr>
              <a:t>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06344" y="2640000"/>
            <a:ext cx="2085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2151C"/>
                </a:solidFill>
                <a:latin typeface="맑은 고딕"/>
              </a:rPr>
              <a:t>취약점 정보</a:t>
            </a:r>
          </a:p>
        </p:txBody>
      </p:sp>
      <p:sp>
        <p:nvSpPr>
          <p:cNvPr id="48" name="Oval 47"/>
          <p:cNvSpPr/>
          <p:nvPr/>
        </p:nvSpPr>
        <p:spPr>
          <a:xfrm>
            <a:off x="696344" y="3240000"/>
            <a:ext cx="300000" cy="300000"/>
          </a:xfrm>
          <a:prstGeom prst="ellipse">
            <a:avLst/>
          </a:prstGeom>
          <a:solidFill>
            <a:srgbClr val="EAF3FE"/>
          </a:solidFill>
          <a:ln w="12700">
            <a:solidFill>
              <a:srgbClr val="D9E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Cube 48"/>
          <p:cNvSpPr/>
          <p:nvPr/>
        </p:nvSpPr>
        <p:spPr>
          <a:xfrm>
            <a:off x="771344" y="3315000"/>
            <a:ext cx="150000" cy="150000"/>
          </a:xfrm>
          <a:prstGeom prst="cube">
            <a:avLst/>
          </a:prstGeom>
          <a:solidFill>
            <a:srgbClr val="3BA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86344" y="3200000"/>
            <a:ext cx="1975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1F2430"/>
                </a:solidFill>
                <a:latin typeface="맑은 고딕"/>
              </a:rPr>
              <a:t>시스템설정취약점 (CCE)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86344" y="3600000"/>
            <a:ext cx="1975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맑은 고딕"/>
              </a:rPr>
              <a:t>시스템 및 설정 취약점 식별</a:t>
            </a:r>
          </a:p>
        </p:txBody>
      </p:sp>
      <p:sp>
        <p:nvSpPr>
          <p:cNvPr id="52" name="Oval 51"/>
          <p:cNvSpPr/>
          <p:nvPr/>
        </p:nvSpPr>
        <p:spPr>
          <a:xfrm>
            <a:off x="696344" y="4180000"/>
            <a:ext cx="300000" cy="300000"/>
          </a:xfrm>
          <a:prstGeom prst="ellipse">
            <a:avLst/>
          </a:prstGeom>
          <a:solidFill>
            <a:srgbClr val="EAF3FE"/>
          </a:solidFill>
          <a:ln w="12700">
            <a:solidFill>
              <a:srgbClr val="D9E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6344" y="4180000"/>
            <a:ext cx="400000" cy="30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3BA2F2"/>
                </a:solidFill>
                <a:latin typeface="Consolas"/>
              </a:rPr>
              <a:t>&lt;/&gt;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86344" y="4140000"/>
            <a:ext cx="1975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1F2430"/>
                </a:solidFill>
                <a:latin typeface="맑은 고딕"/>
              </a:rPr>
              <a:t>소프트웨어취약점 (CVE)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86344" y="4540000"/>
            <a:ext cx="1975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맑은 고딕"/>
              </a:rPr>
              <a:t>소프트웨어/애플리케이션 취약점 식별</a:t>
            </a:r>
          </a:p>
        </p:txBody>
      </p:sp>
      <p:sp>
        <p:nvSpPr>
          <p:cNvPr id="56" name="Oval 55"/>
          <p:cNvSpPr/>
          <p:nvPr/>
        </p:nvSpPr>
        <p:spPr>
          <a:xfrm>
            <a:off x="696344" y="5120000"/>
            <a:ext cx="300000" cy="300000"/>
          </a:xfrm>
          <a:prstGeom prst="ellipse">
            <a:avLst/>
          </a:prstGeom>
          <a:solidFill>
            <a:srgbClr val="EAF3FE"/>
          </a:solidFill>
          <a:ln w="12700">
            <a:solidFill>
              <a:srgbClr val="D9E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46344" y="5070000"/>
            <a:ext cx="400000" cy="40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>
                <a:solidFill>
                  <a:srgbClr val="3BA2F2"/>
                </a:solidFill>
                <a:latin typeface="Segoe MDL2 Assets"/>
              </a:rPr>
              <a:t>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86344" y="5080000"/>
            <a:ext cx="1975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1F2430"/>
                </a:solidFill>
                <a:latin typeface="맑은 고딕"/>
              </a:rPr>
              <a:t>네트워크스캔취약점 (NSE Vulners)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6344" y="5480000"/>
            <a:ext cx="1975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맑은 고딕"/>
              </a:rPr>
              <a:t>네트워크 서비스 및 구성 취약점 탐지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411344" y="2320000"/>
            <a:ext cx="2685000" cy="386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CDF0E3"/>
            </a:solidFill>
          </a:ln>
          <a:effectLst>
            <a:outerShdw blurRad="90000" dist="25000" dir="5400000" rotWithShape="0">
              <a:srgbClr val="9AA5B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3641344" y="2600000"/>
            <a:ext cx="380000" cy="380000"/>
          </a:xfrm>
          <a:prstGeom prst="ellipse">
            <a:avLst/>
          </a:prstGeom>
          <a:solidFill>
            <a:srgbClr val="1BB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631344" y="2590000"/>
            <a:ext cx="400000" cy="40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>
                <a:solidFill>
                  <a:srgbClr val="FFFFFF"/>
                </a:solidFill>
                <a:latin typeface="Segoe MDL2 Assets"/>
              </a:rPr>
              <a:t>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51344" y="2640000"/>
            <a:ext cx="2085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2151C"/>
                </a:solidFill>
                <a:latin typeface="맑은 고딕"/>
              </a:rPr>
              <a:t>위험 정보</a:t>
            </a:r>
          </a:p>
        </p:txBody>
      </p:sp>
      <p:sp>
        <p:nvSpPr>
          <p:cNvPr id="64" name="Oval 63"/>
          <p:cNvSpPr/>
          <p:nvPr/>
        </p:nvSpPr>
        <p:spPr>
          <a:xfrm>
            <a:off x="3641344" y="3240000"/>
            <a:ext cx="300000" cy="300000"/>
          </a:xfrm>
          <a:prstGeom prst="ellipse">
            <a:avLst/>
          </a:prstGeom>
          <a:solidFill>
            <a:srgbClr val="E6F9F3"/>
          </a:solidFill>
          <a:ln w="12700">
            <a:solidFill>
              <a:srgbClr val="CDF0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591344" y="3190000"/>
            <a:ext cx="400000" cy="40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>
                <a:solidFill>
                  <a:srgbClr val="1BB88F"/>
                </a:solidFill>
                <a:latin typeface="Segoe MDL2 Assets"/>
              </a:rPr>
              <a:t>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031344" y="3200000"/>
            <a:ext cx="1975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1F2430"/>
                </a:solidFill>
                <a:latin typeface="맑은 고딕"/>
              </a:rPr>
              <a:t>소프트웨어취약점 스코어 (CVSS)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031344" y="3600000"/>
            <a:ext cx="1975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맑은 고딕"/>
              </a:rPr>
              <a:t>기술적 심각도 점수</a:t>
            </a:r>
          </a:p>
        </p:txBody>
      </p:sp>
      <p:sp>
        <p:nvSpPr>
          <p:cNvPr id="68" name="Oval 67"/>
          <p:cNvSpPr/>
          <p:nvPr/>
        </p:nvSpPr>
        <p:spPr>
          <a:xfrm>
            <a:off x="3641344" y="4180000"/>
            <a:ext cx="300000" cy="300000"/>
          </a:xfrm>
          <a:prstGeom prst="ellipse">
            <a:avLst/>
          </a:prstGeom>
          <a:solidFill>
            <a:srgbClr val="E6F9F3"/>
          </a:solidFill>
          <a:ln w="12700">
            <a:solidFill>
              <a:srgbClr val="CDF0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591344" y="4130000"/>
            <a:ext cx="400000" cy="40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>
                <a:solidFill>
                  <a:srgbClr val="1BB88F"/>
                </a:solidFill>
                <a:latin typeface="Segoe MDL2 Assets"/>
              </a:rPr>
              <a:t>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031344" y="4140000"/>
            <a:ext cx="1975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1F2430"/>
                </a:solidFill>
                <a:latin typeface="맑은 고딕"/>
              </a:rPr>
              <a:t>AI예측분석취약점 스코어 (EPSS)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031344" y="4540000"/>
            <a:ext cx="1975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맑은 고딕"/>
              </a:rPr>
              <a:t>실제 악용 가능성 예측 점수</a:t>
            </a:r>
          </a:p>
        </p:txBody>
      </p:sp>
      <p:sp>
        <p:nvSpPr>
          <p:cNvPr id="72" name="Oval 71"/>
          <p:cNvSpPr/>
          <p:nvPr/>
        </p:nvSpPr>
        <p:spPr>
          <a:xfrm>
            <a:off x="3641344" y="5120000"/>
            <a:ext cx="300000" cy="300000"/>
          </a:xfrm>
          <a:prstGeom prst="ellipse">
            <a:avLst/>
          </a:prstGeom>
          <a:solidFill>
            <a:srgbClr val="E6F9F3"/>
          </a:solidFill>
          <a:ln w="12700">
            <a:solidFill>
              <a:srgbClr val="CDF0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591344" y="5070000"/>
            <a:ext cx="400000" cy="40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>
                <a:solidFill>
                  <a:srgbClr val="1BB88F"/>
                </a:solidFill>
                <a:latin typeface="Segoe MDL2 Assets"/>
              </a:rPr>
              <a:t>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031344" y="5080000"/>
            <a:ext cx="1975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1F2430"/>
                </a:solidFill>
                <a:latin typeface="맑은 고딕"/>
              </a:rPr>
              <a:t>실제공격에사용된취약점 (KEV)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031344" y="5480000"/>
            <a:ext cx="1975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맑은 고딕"/>
              </a:rPr>
              <a:t>공격에 악용된 취약점 여부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356344" y="2320000"/>
            <a:ext cx="2685000" cy="386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5875">
            <a:solidFill>
              <a:srgbClr val="FBE6C2"/>
            </a:solidFill>
          </a:ln>
          <a:effectLst>
            <a:outerShdw blurRad="90000" dist="25000" dir="5400000" rotWithShape="0">
              <a:srgbClr val="9AA5B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6586344" y="2600000"/>
            <a:ext cx="380000" cy="380000"/>
          </a:xfrm>
          <a:prstGeom prst="ellipse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576344" y="2590000"/>
            <a:ext cx="400000" cy="40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>
                <a:solidFill>
                  <a:srgbClr val="FFFFFF"/>
                </a:solidFill>
                <a:latin typeface="Segoe MDL2 Assets"/>
              </a:rPr>
              <a:t>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096344" y="2640000"/>
            <a:ext cx="2085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2151C"/>
                </a:solidFill>
                <a:latin typeface="맑은 고딕"/>
              </a:rPr>
              <a:t>IT 자산 중요도</a:t>
            </a:r>
          </a:p>
        </p:txBody>
      </p:sp>
      <p:sp>
        <p:nvSpPr>
          <p:cNvPr id="80" name="Oval 79"/>
          <p:cNvSpPr/>
          <p:nvPr/>
        </p:nvSpPr>
        <p:spPr>
          <a:xfrm>
            <a:off x="6586344" y="3240000"/>
            <a:ext cx="300000" cy="300000"/>
          </a:xfrm>
          <a:prstGeom prst="ellipse">
            <a:avLst/>
          </a:prstGeom>
          <a:solidFill>
            <a:srgbClr val="FFF6E7"/>
          </a:solidFill>
          <a:ln w="12700">
            <a:solidFill>
              <a:srgbClr val="FBE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6618844" y="3340000"/>
            <a:ext cx="55000" cy="140000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ounded Rectangle 81"/>
          <p:cNvSpPr/>
          <p:nvPr/>
        </p:nvSpPr>
        <p:spPr>
          <a:xfrm>
            <a:off x="6708844" y="3260000"/>
            <a:ext cx="55000" cy="220000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ounded Rectangle 82"/>
          <p:cNvSpPr/>
          <p:nvPr/>
        </p:nvSpPr>
        <p:spPr>
          <a:xfrm>
            <a:off x="6798844" y="3180000"/>
            <a:ext cx="55000" cy="300000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976344" y="3200000"/>
            <a:ext cx="1975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1F2430"/>
                </a:solidFill>
                <a:latin typeface="맑은 고딕"/>
              </a:rPr>
              <a:t>자산 중요도 등급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976344" y="3600000"/>
            <a:ext cx="1975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맑은 고딕"/>
              </a:rPr>
              <a:t>비즈니스 영향에 따른 상·중·하 분류</a:t>
            </a:r>
          </a:p>
        </p:txBody>
      </p:sp>
      <p:sp>
        <p:nvSpPr>
          <p:cNvPr id="86" name="Oval 85"/>
          <p:cNvSpPr/>
          <p:nvPr/>
        </p:nvSpPr>
        <p:spPr>
          <a:xfrm>
            <a:off x="6586344" y="4180000"/>
            <a:ext cx="300000" cy="300000"/>
          </a:xfrm>
          <a:prstGeom prst="ellipse">
            <a:avLst/>
          </a:prstGeom>
          <a:solidFill>
            <a:srgbClr val="FFF6E7"/>
          </a:solidFill>
          <a:ln w="12700">
            <a:solidFill>
              <a:srgbClr val="FBE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536344" y="4130000"/>
            <a:ext cx="400000" cy="40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>
                <a:solidFill>
                  <a:srgbClr val="FFB020"/>
                </a:solidFill>
                <a:latin typeface="Segoe MDL2 Assets"/>
              </a:rPr>
              <a:t>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976344" y="4140000"/>
            <a:ext cx="1975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1F2430"/>
                </a:solidFill>
                <a:latin typeface="맑은 고딕"/>
              </a:rPr>
              <a:t>업무 영향도 (RTO·RPO)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976344" y="4540000"/>
            <a:ext cx="1975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맑은 고딕"/>
              </a:rPr>
              <a:t>재해복구(DR) 및 업무연속성(BCP) 핵심 지표 관리</a:t>
            </a:r>
          </a:p>
        </p:txBody>
      </p:sp>
      <p:sp>
        <p:nvSpPr>
          <p:cNvPr id="90" name="Oval 89"/>
          <p:cNvSpPr/>
          <p:nvPr/>
        </p:nvSpPr>
        <p:spPr>
          <a:xfrm>
            <a:off x="6586344" y="5120000"/>
            <a:ext cx="300000" cy="300000"/>
          </a:xfrm>
          <a:prstGeom prst="ellipse">
            <a:avLst/>
          </a:prstGeom>
          <a:solidFill>
            <a:srgbClr val="FFF6E7"/>
          </a:solidFill>
          <a:ln w="12700">
            <a:solidFill>
              <a:srgbClr val="FBE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536344" y="5070000"/>
            <a:ext cx="400000" cy="40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>
                <a:solidFill>
                  <a:srgbClr val="FFB020"/>
                </a:solidFill>
                <a:latin typeface="Segoe MDL2 Assets"/>
              </a:rPr>
              <a:t>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76344" y="5080000"/>
            <a:ext cx="1975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1F2430"/>
                </a:solidFill>
                <a:latin typeface="맑은 고딕"/>
              </a:rPr>
              <a:t>복구 우선순위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976344" y="5480000"/>
            <a:ext cx="19750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맑은 고딕"/>
              </a:rPr>
              <a:t>위험도·중요도를 결합해 가장 시급한 복구 대상 결정</a:t>
            </a:r>
          </a:p>
        </p:txBody>
      </p:sp>
      <p:sp>
        <p:nvSpPr>
          <p:cNvPr id="94" name="Oval 93"/>
          <p:cNvSpPr/>
          <p:nvPr/>
        </p:nvSpPr>
        <p:spPr>
          <a:xfrm>
            <a:off x="3111344" y="4080000"/>
            <a:ext cx="340000" cy="340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F4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3081344" y="4090000"/>
            <a:ext cx="400000" cy="32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4757"/>
                </a:solidFill>
                <a:latin typeface="맑은 고딕"/>
              </a:rPr>
              <a:t>+</a:t>
            </a:r>
          </a:p>
        </p:txBody>
      </p:sp>
      <p:sp>
        <p:nvSpPr>
          <p:cNvPr id="96" name="Oval 95"/>
          <p:cNvSpPr/>
          <p:nvPr/>
        </p:nvSpPr>
        <p:spPr>
          <a:xfrm>
            <a:off x="6056344" y="4080000"/>
            <a:ext cx="340000" cy="340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F4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6026344" y="4090000"/>
            <a:ext cx="400000" cy="32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4757"/>
                </a:solidFill>
                <a:latin typeface="맑은 고딕"/>
              </a:rPr>
              <a:t>+</a:t>
            </a:r>
          </a:p>
        </p:txBody>
      </p:sp>
      <p:sp>
        <p:nvSpPr>
          <p:cNvPr id="98" name="Oval 97"/>
          <p:cNvSpPr/>
          <p:nvPr/>
        </p:nvSpPr>
        <p:spPr>
          <a:xfrm>
            <a:off x="9061344" y="4080000"/>
            <a:ext cx="340000" cy="340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F4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9031344" y="4090000"/>
            <a:ext cx="400000" cy="32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4757"/>
                </a:solidFill>
                <a:latin typeface="맑은 고딕"/>
              </a:rPr>
              <a:t>→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9421344" y="2320000"/>
            <a:ext cx="2435000" cy="3860000"/>
          </a:xfrm>
          <a:prstGeom prst="roundRect">
            <a:avLst>
              <a:gd name="adj" fmla="val 6000"/>
            </a:avLst>
          </a:prstGeom>
          <a:gradFill>
            <a:gsLst>
              <a:gs pos="0">
                <a:srgbClr val="170A0E"/>
              </a:gs>
              <a:gs pos="60000">
                <a:srgbClr val="230D14"/>
              </a:gs>
              <a:gs pos="100000">
                <a:srgbClr val="301019"/>
              </a:gs>
            </a:gsLst>
            <a:lin ang="5400000" scaled="1"/>
          </a:gradFill>
          <a:ln w="19050">
            <a:solidFill>
              <a:srgbClr val="FF4757"/>
            </a:solidFill>
          </a:ln>
          <a:effectLst>
            <a:glow rad="80000">
              <a:srgbClr val="FF4757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10438844" y="2680000"/>
            <a:ext cx="400000" cy="40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000">
                <a:solidFill>
                  <a:srgbClr val="FF4757"/>
                </a:solidFill>
                <a:latin typeface="Segoe MDL2 Assets"/>
              </a:rPr>
              <a:t>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438844" y="2710000"/>
            <a:ext cx="400000" cy="40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Segoe MDL2 Assets"/>
              </a:rPr>
              <a:t>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9863844" y="3220000"/>
            <a:ext cx="1550000" cy="320000"/>
          </a:xfrm>
          <a:prstGeom prst="roundRect">
            <a:avLst>
              <a:gd name="adj" fmla="val 50000"/>
            </a:avLst>
          </a:prstGeom>
          <a:solidFill>
            <a:srgbClr val="C23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9863844" y="3250000"/>
            <a:ext cx="1550000" cy="26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●  Critical · 최우선 대응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521344" y="3650000"/>
            <a:ext cx="22350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맑은 고딕"/>
              </a:rPr>
              <a:t>BingoCVM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521344" y="4070000"/>
            <a:ext cx="2235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8FA3"/>
                </a:solidFill>
                <a:latin typeface="맑은 고딕"/>
              </a:rPr>
              <a:t>Risk-Based Priority Score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10388844" y="4450000"/>
            <a:ext cx="500000" cy="0"/>
          </a:xfrm>
          <a:prstGeom prst="line">
            <a:avLst/>
          </a:prstGeom>
          <a:ln w="12700">
            <a:solidFill>
              <a:srgbClr val="FF4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9641344" y="4590000"/>
            <a:ext cx="1995000" cy="1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5000"/>
              </a:lnSpc>
            </a:pPr>
            <a:r>
              <a:rPr sz="1050" b="0">
                <a:solidFill>
                  <a:srgbClr val="C9CDD8"/>
                </a:solidFill>
                <a:latin typeface="맑은 고딕"/>
              </a:rPr>
              <a:t>취약점 정보, 위험 정보, 자산 중요도가 모여 하나의 Risk-Based Priority Score가 됩니다.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466344" y="6310000"/>
            <a:ext cx="11259312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0" name="Picture 109" descr="bingoCVM-logo-bklon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7201"/>
            <a:ext cx="683713" cy="17007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9DEE37E-EBEF-D2E6-10A5-6F8FE809BBCF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0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0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bingoCVM-logo-bklon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7201"/>
            <a:ext cx="683713" cy="17007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" y="610000"/>
            <a:ext cx="54864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4757"/>
                </a:solidFill>
                <a:latin typeface="맑은 고딕"/>
              </a:rPr>
              <a:t>THE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940000"/>
            <a:ext cx="8000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12151C"/>
                </a:solidFill>
                <a:latin typeface="맑은 고딕"/>
              </a:rPr>
              <a:t>Risk-Based Priority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620000"/>
            <a:ext cx="950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5A5C63"/>
                </a:solidFill>
                <a:latin typeface="맑은 고딕"/>
              </a:rPr>
              <a:t>취약점 개수가 아니라, 실제 위험을 기준으로 대응 순서를 결정합니다.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260000"/>
            <a:ext cx="10546400" cy="32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dirty="0">
                <a:solidFill>
                  <a:srgbClr val="5A5C63"/>
                </a:solidFill>
                <a:latin typeface="맑은 고딕"/>
              </a:rPr>
              <a:t>Technical Risk + Exploitability + Known Exploitation + Asset Criticality + Business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06800" y="2441691"/>
            <a:ext cx="359073" cy="4660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1" dirty="0">
                <a:solidFill>
                  <a:srgbClr val="FF4757"/>
                </a:solidFill>
                <a:latin typeface="맑은 고딕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65847" y="3020000"/>
            <a:ext cx="1700000" cy="380000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5875">
            <a:solidFill>
              <a:srgbClr val="FF4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CRITICAL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85847" y="3020000"/>
            <a:ext cx="1700000" cy="380000"/>
          </a:xfrm>
          <a:prstGeom prst="roundRect">
            <a:avLst>
              <a:gd name="adj" fmla="val 50000"/>
            </a:avLst>
          </a:prstGeom>
          <a:solidFill>
            <a:srgbClr val="1A1D26"/>
          </a:solidFill>
          <a:ln w="15875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B020"/>
                </a:solidFill>
                <a:latin typeface="맑은 고딕"/>
              </a:rPr>
              <a:t>HIGH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5847" y="3020000"/>
            <a:ext cx="1700000" cy="380000"/>
          </a:xfrm>
          <a:prstGeom prst="roundRect">
            <a:avLst>
              <a:gd name="adj" fmla="val 50000"/>
            </a:avLst>
          </a:prstGeom>
          <a:solidFill>
            <a:srgbClr val="1A1D26"/>
          </a:solidFill>
          <a:ln w="15875">
            <a:solidFill>
              <a:srgbClr val="3BA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3BA2F2"/>
                </a:solidFill>
                <a:latin typeface="맑은 고딕"/>
              </a:rPr>
              <a:t>MEDIUM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25847" y="3020000"/>
            <a:ext cx="1700000" cy="380000"/>
          </a:xfrm>
          <a:prstGeom prst="roundRect">
            <a:avLst>
              <a:gd name="adj" fmla="val 50000"/>
            </a:avLst>
          </a:prstGeom>
          <a:solidFill>
            <a:srgbClr val="1A1D26"/>
          </a:solidFill>
          <a:ln w="15875">
            <a:solidFill>
              <a:srgbClr val="5A5C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5A5C63"/>
                </a:solidFill>
                <a:latin typeface="맑은 고딕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3660000"/>
            <a:ext cx="12191695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12151C"/>
                </a:solidFill>
                <a:latin typeface="맑은 고딕"/>
              </a:rPr>
              <a:t>숫자는 비슷해도, 결론은 다릅니다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160000"/>
            <a:ext cx="4600000" cy="2100000"/>
          </a:xfrm>
          <a:prstGeom prst="roundRect">
            <a:avLst>
              <a:gd name="adj" fmla="val 5000"/>
            </a:avLst>
          </a:prstGeom>
          <a:solidFill>
            <a:srgbClr val="242733"/>
          </a:solidFill>
          <a:ln w="15875">
            <a:solidFill>
              <a:srgbClr val="5A5C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82960" y="4360000"/>
            <a:ext cx="40800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취약점 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960" y="4780000"/>
            <a:ext cx="4080000" cy="2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AA0AE"/>
                </a:solidFill>
                <a:latin typeface="맑은 고딕"/>
              </a:rPr>
              <a:t>CVSS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960" y="4780000"/>
            <a:ext cx="4080000" cy="2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9.8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960" y="5010000"/>
            <a:ext cx="4080000" cy="2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AA0AE"/>
                </a:solidFill>
                <a:latin typeface="맑은 고딕"/>
              </a:rPr>
              <a:t>EPSS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960" y="5010000"/>
            <a:ext cx="4080000" cy="2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2960" y="5240000"/>
            <a:ext cx="4080000" cy="2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AA0AE"/>
                </a:solidFill>
                <a:latin typeface="맑은 고딕"/>
              </a:rPr>
              <a:t>KEV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2960" y="5240000"/>
            <a:ext cx="4080000" cy="2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아니오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2960" y="5470000"/>
            <a:ext cx="4080000" cy="2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AA0AE"/>
                </a:solidFill>
                <a:latin typeface="맑은 고딕"/>
              </a:rPr>
              <a:t>자산 중요도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960" y="5470000"/>
            <a:ext cx="4080000" cy="2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낮음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82960" y="5810000"/>
            <a:ext cx="4080000" cy="340000"/>
          </a:xfrm>
          <a:prstGeom prst="roundRect">
            <a:avLst>
              <a:gd name="adj" fmla="val 50000"/>
            </a:avLst>
          </a:prstGeom>
          <a:solidFill>
            <a:srgbClr val="2A2D38"/>
          </a:solidFill>
          <a:ln w="12700">
            <a:solidFill>
              <a:srgbClr val="3A3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C9CDD8"/>
                </a:solidFill>
                <a:latin typeface="맑은 고딕"/>
              </a:rPr>
              <a:t>낮은 우선순위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68735" y="4160000"/>
            <a:ext cx="4600000" cy="2100000"/>
          </a:xfrm>
          <a:prstGeom prst="roundRect">
            <a:avLst>
              <a:gd name="adj" fmla="val 5000"/>
            </a:avLst>
          </a:prstGeom>
          <a:solidFill>
            <a:srgbClr val="242733"/>
          </a:solidFill>
          <a:ln w="15875">
            <a:solidFill>
              <a:srgbClr val="FF4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028735" y="4360000"/>
            <a:ext cx="40800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취약점 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28735" y="4780000"/>
            <a:ext cx="4080000" cy="2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AA0AE"/>
                </a:solidFill>
                <a:latin typeface="맑은 고딕"/>
              </a:rPr>
              <a:t>CVSS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28735" y="4780000"/>
            <a:ext cx="4080000" cy="2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7.5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28735" y="5010000"/>
            <a:ext cx="4080000" cy="2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AA0AE"/>
                </a:solidFill>
                <a:latin typeface="맑은 고딕"/>
              </a:rPr>
              <a:t>EPSS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28735" y="5010000"/>
            <a:ext cx="4080000" cy="2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85%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28735" y="5240000"/>
            <a:ext cx="4080000" cy="2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AA0AE"/>
                </a:solidFill>
                <a:latin typeface="맑은 고딕"/>
              </a:rPr>
              <a:t>KEV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28735" y="5240000"/>
            <a:ext cx="4080000" cy="2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28735" y="5470000"/>
            <a:ext cx="4080000" cy="2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AA0AE"/>
                </a:solidFill>
                <a:latin typeface="맑은 고딕"/>
              </a:rPr>
              <a:t>자산 중요도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28735" y="5470000"/>
            <a:ext cx="4080000" cy="2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Critical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028735" y="5810000"/>
            <a:ext cx="4080000" cy="340000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CRITICAL · 최우선 대응</a:t>
            </a:r>
          </a:p>
        </p:txBody>
      </p:sp>
      <p:sp>
        <p:nvSpPr>
          <p:cNvPr id="43" name="Oval 42"/>
          <p:cNvSpPr/>
          <p:nvPr/>
        </p:nvSpPr>
        <p:spPr>
          <a:xfrm>
            <a:off x="5885847" y="5000000"/>
            <a:ext cx="420000" cy="420000"/>
          </a:xfrm>
          <a:prstGeom prst="ellipse">
            <a:avLst/>
          </a:prstGeom>
          <a:solidFill>
            <a:srgbClr val="1A1D26"/>
          </a:solidFill>
          <a:ln w="15875">
            <a:solidFill>
              <a:srgbClr val="FF4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4757"/>
                </a:solidFill>
                <a:latin typeface="맑은 고딕"/>
              </a:rPr>
              <a:t>VS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0" y="6460000"/>
            <a:ext cx="12191695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4757"/>
                </a:solidFill>
                <a:latin typeface="맑은 고딕"/>
              </a:rPr>
              <a:t>취약점 개수가 아니라, 결합이 답을 바꿉니다.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77295" y="635508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5A5C63"/>
                </a:solidFill>
                <a:latin typeface="맑은 고딕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22960" y="723900"/>
            <a:ext cx="88900" cy="88900"/>
          </a:xfrm>
          <a:prstGeom prst="ellipse">
            <a:avLst/>
          </a:prstGeom>
          <a:solidFill>
            <a:srgbClr val="C80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6160" y="660400"/>
            <a:ext cx="54864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8001E"/>
                </a:solidFill>
                <a:latin typeface="맑은 고딕"/>
              </a:rPr>
              <a:t>BUSINESS OUTCOMES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7295" y="635508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A5C63"/>
                </a:solidFill>
                <a:latin typeface="맑은 고딕"/>
              </a:rPr>
              <a:t>05</a:t>
            </a:r>
          </a:p>
        </p:txBody>
      </p:sp>
      <p:pic>
        <p:nvPicPr>
          <p:cNvPr id="24" name="Picture 23" descr="bingoCVM-logo-bklon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7201"/>
            <a:ext cx="683713" cy="17007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22960" y="987552"/>
            <a:ext cx="9144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2151C"/>
                </a:solidFill>
                <a:latin typeface="맑은 고딕"/>
              </a:rPr>
              <a:t>보안팀의 의사결정이 달라집니다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1627632"/>
            <a:ext cx="9500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A8F98"/>
                </a:solidFill>
                <a:latin typeface="맑은 고딕"/>
              </a:rPr>
              <a:t>취약점을 나열하던 방식에서, 위험을 판단하는 방식으로 바뀝니다.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2250000"/>
            <a:ext cx="43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8A8F98"/>
                </a:solidFill>
                <a:latin typeface="맑은 고딕"/>
              </a:rPr>
              <a:t>BEFORE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68735" y="2250000"/>
            <a:ext cx="43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4757"/>
                </a:solidFill>
                <a:latin typeface="맑은 고딕"/>
              </a:rPr>
              <a:t>BINGOCVM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2670000"/>
            <a:ext cx="10545775" cy="127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2710000"/>
            <a:ext cx="4300000" cy="6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A8F98"/>
                </a:solidFill>
                <a:latin typeface="맑은 고딕"/>
              </a:rPr>
              <a:t>취약점 개수 중심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7555" y="2808876"/>
            <a:ext cx="607829" cy="482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1" dirty="0">
                <a:solidFill>
                  <a:srgbClr val="FF4757"/>
                </a:solidFill>
                <a:latin typeface="맑은 고딕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68735" y="2770000"/>
            <a:ext cx="45720" cy="560000"/>
          </a:xfrm>
          <a:prstGeom prst="rect">
            <a:avLst/>
          </a:prstGeom>
          <a:solidFill>
            <a:srgbClr val="FF4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268735" y="2710000"/>
            <a:ext cx="4100000" cy="6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2151C"/>
                </a:solidFill>
                <a:latin typeface="맑은 고딕"/>
              </a:rPr>
              <a:t>실제 위험 중심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" y="3470000"/>
            <a:ext cx="10545775" cy="6350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2960" y="3490000"/>
            <a:ext cx="4300000" cy="6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A8F98"/>
                </a:solidFill>
                <a:latin typeface="맑은 고딕"/>
              </a:rPr>
              <a:t>모든 취약점을 동일하게 관리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7555" y="3588876"/>
            <a:ext cx="607829" cy="482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2800" b="1" dirty="0">
                <a:solidFill>
                  <a:srgbClr val="FF4757"/>
                </a:solidFill>
                <a:latin typeface="맑은 고딕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68735" y="3550000"/>
            <a:ext cx="45720" cy="560000"/>
          </a:xfrm>
          <a:prstGeom prst="rect">
            <a:avLst/>
          </a:prstGeom>
          <a:solidFill>
            <a:srgbClr val="FF4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268735" y="3490000"/>
            <a:ext cx="4100000" cy="6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2151C"/>
                </a:solidFill>
                <a:latin typeface="맑은 고딕"/>
              </a:rPr>
              <a:t>우선순위 기반 대응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" y="4250000"/>
            <a:ext cx="10545775" cy="6350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2960" y="4270000"/>
            <a:ext cx="4300000" cy="6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A8F98"/>
                </a:solidFill>
                <a:latin typeface="맑은 고딕"/>
              </a:rPr>
              <a:t>보안팀의 경험에 의존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7555" y="4368876"/>
            <a:ext cx="607829" cy="482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1" dirty="0">
                <a:solidFill>
                  <a:srgbClr val="FF4757"/>
                </a:solidFill>
                <a:latin typeface="맑은 고딕"/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68735" y="4330000"/>
            <a:ext cx="45720" cy="560000"/>
          </a:xfrm>
          <a:prstGeom prst="rect">
            <a:avLst/>
          </a:prstGeom>
          <a:solidFill>
            <a:srgbClr val="FF4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268735" y="4270000"/>
            <a:ext cx="4100000" cy="6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2151C"/>
                </a:solidFill>
                <a:latin typeface="맑은 고딕"/>
              </a:rPr>
              <a:t>데이터 기반 판단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" y="5030000"/>
            <a:ext cx="10545775" cy="6350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22960" y="5050000"/>
            <a:ext cx="4300000" cy="6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A8F98"/>
                </a:solidFill>
                <a:latin typeface="맑은 고딕"/>
              </a:rPr>
              <a:t>진단 결과에 머묾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7555" y="5148876"/>
            <a:ext cx="607829" cy="482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1" dirty="0">
                <a:solidFill>
                  <a:srgbClr val="FF4757"/>
                </a:solidFill>
                <a:latin typeface="맑은 고딕"/>
              </a:rPr>
              <a:t>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068735" y="5110000"/>
            <a:ext cx="45720" cy="560000"/>
          </a:xfrm>
          <a:prstGeom prst="rect">
            <a:avLst/>
          </a:prstGeom>
          <a:solidFill>
            <a:srgbClr val="FF4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268735" y="5050000"/>
            <a:ext cx="4100000" cy="6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2151C"/>
                </a:solidFill>
                <a:latin typeface="맑은 고딕"/>
              </a:rPr>
              <a:t>조치 → 재검증 → 개선 추적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55FEAB-6C16-2CFD-7A4C-8A0655CD3C93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0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22960" y="678180"/>
            <a:ext cx="88900" cy="88900"/>
          </a:xfrm>
          <a:prstGeom prst="ellipse">
            <a:avLst/>
          </a:prstGeom>
          <a:solidFill>
            <a:srgbClr val="C80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6160" y="614680"/>
            <a:ext cx="54864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8001E"/>
                </a:solidFill>
                <a:latin typeface="맑은 고딕"/>
              </a:rPr>
              <a:t>THE PLATFORM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77295" y="635508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A5C63"/>
                </a:solidFill>
                <a:latin typeface="맑은 고딕"/>
              </a:rPr>
              <a:t>06</a:t>
            </a:r>
          </a:p>
        </p:txBody>
      </p:sp>
      <p:pic>
        <p:nvPicPr>
          <p:cNvPr id="41" name="Picture 40" descr="bingoCVM-logo-bklon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7201"/>
            <a:ext cx="683713" cy="17007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22960" y="914400"/>
            <a:ext cx="10515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12151C"/>
                </a:solidFill>
                <a:latin typeface="맑은 고딕"/>
              </a:rPr>
              <a:t>발견에서 개선까지, 하나의 흐름으로 이어집니다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15600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B7280"/>
                </a:solidFill>
                <a:latin typeface="맑은 고딕"/>
              </a:rPr>
              <a:t>탐지에 그치지 않고, 분석·우선순위·조치·재검증까지 하나의 플랫폼에서 순환합니다.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2960" y="2280000"/>
            <a:ext cx="1901155" cy="26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22960" y="2280000"/>
            <a:ext cx="1901155" cy="50800"/>
          </a:xfrm>
          <a:prstGeom prst="rect">
            <a:avLst/>
          </a:prstGeom>
          <a:solidFill>
            <a:srgbClr val="FF4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1583537" y="2650000"/>
            <a:ext cx="380000" cy="380000"/>
          </a:xfrm>
          <a:prstGeom prst="ellipse">
            <a:avLst/>
          </a:prstGeom>
          <a:solidFill>
            <a:srgbClr val="FF4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573537" y="2640000"/>
            <a:ext cx="400000" cy="40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  <a:latin typeface="Segoe MDL2 Assets"/>
              </a:rPr>
              <a:t>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3180000"/>
            <a:ext cx="1901155" cy="3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12151C"/>
                </a:solidFill>
                <a:latin typeface="맑은 고딕"/>
              </a:rPr>
              <a:t>DISCOVER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3510000"/>
            <a:ext cx="1901155" cy="28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4757"/>
                </a:solidFill>
                <a:latin typeface="맑은 고딕"/>
              </a:rPr>
              <a:t>발견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2960" y="3900000"/>
            <a:ext cx="1721155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0">
                <a:solidFill>
                  <a:srgbClr val="6B7280"/>
                </a:solidFill>
                <a:latin typeface="맑은 고딕"/>
              </a:rPr>
              <a:t>취약점을 찾습니다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74579" y="2621955"/>
            <a:ext cx="359073" cy="46609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1" dirty="0">
                <a:solidFill>
                  <a:srgbClr val="FF4757"/>
                </a:solidFill>
                <a:latin typeface="맑은 고딕"/>
              </a:rPr>
              <a:t>→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984115" y="2280000"/>
            <a:ext cx="1901155" cy="26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2984115" y="2280000"/>
            <a:ext cx="1901155" cy="50800"/>
          </a:xfrm>
          <a:prstGeom prst="rect">
            <a:avLst/>
          </a:prstGeom>
          <a:solidFill>
            <a:srgbClr val="FF4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3744692" y="2650000"/>
            <a:ext cx="380000" cy="380000"/>
          </a:xfrm>
          <a:prstGeom prst="ellipse">
            <a:avLst/>
          </a:prstGeom>
          <a:solidFill>
            <a:srgbClr val="FF4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734692" y="2640000"/>
            <a:ext cx="400000" cy="40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  <a:latin typeface="Segoe MDL2 Assets"/>
              </a:rPr>
              <a:t>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84115" y="3180000"/>
            <a:ext cx="1901155" cy="3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12151C"/>
                </a:solidFill>
                <a:latin typeface="맑은 고딕"/>
              </a:rPr>
              <a:t>ANALYZE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84115" y="3510000"/>
            <a:ext cx="1901155" cy="28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4757"/>
                </a:solidFill>
                <a:latin typeface="맑은 고딕"/>
              </a:rPr>
              <a:t>분석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074115" y="3900000"/>
            <a:ext cx="1721155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0">
                <a:solidFill>
                  <a:srgbClr val="6B7280"/>
                </a:solidFill>
                <a:latin typeface="맑은 고딕"/>
              </a:rPr>
              <a:t>위험도를 계산합니다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35734" y="2621955"/>
            <a:ext cx="359073" cy="46609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1" dirty="0">
                <a:solidFill>
                  <a:srgbClr val="FF4757"/>
                </a:solidFill>
                <a:latin typeface="맑은 고딕"/>
              </a:rPr>
              <a:t>→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145270" y="2280000"/>
            <a:ext cx="1901155" cy="26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5145270" y="2280000"/>
            <a:ext cx="1901155" cy="50800"/>
          </a:xfrm>
          <a:prstGeom prst="rect">
            <a:avLst/>
          </a:prstGeom>
          <a:solidFill>
            <a:srgbClr val="FF4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5905847" y="2650000"/>
            <a:ext cx="380000" cy="380000"/>
          </a:xfrm>
          <a:prstGeom prst="ellipse">
            <a:avLst/>
          </a:prstGeom>
          <a:solidFill>
            <a:srgbClr val="FF4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895847" y="2640000"/>
            <a:ext cx="400000" cy="40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  <a:latin typeface="Segoe MDL2 Assets"/>
              </a:rPr>
              <a:t>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45270" y="3180000"/>
            <a:ext cx="1901155" cy="3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12151C"/>
                </a:solidFill>
                <a:latin typeface="맑은 고딕"/>
              </a:rPr>
              <a:t>PRIORITIZE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45270" y="3510000"/>
            <a:ext cx="1901155" cy="28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4757"/>
                </a:solidFill>
                <a:latin typeface="맑은 고딕"/>
              </a:rPr>
              <a:t>우선순위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235270" y="3900000"/>
            <a:ext cx="1721155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0">
                <a:solidFill>
                  <a:srgbClr val="6B7280"/>
                </a:solidFill>
                <a:latin typeface="맑은 고딕"/>
              </a:rPr>
              <a:t>무엇부터 할지 정합니다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996889" y="2621955"/>
            <a:ext cx="359073" cy="46609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1" dirty="0">
                <a:solidFill>
                  <a:srgbClr val="FF4757"/>
                </a:solidFill>
                <a:latin typeface="맑은 고딕"/>
              </a:rPr>
              <a:t>→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306425" y="2280000"/>
            <a:ext cx="1901155" cy="26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7306425" y="2280000"/>
            <a:ext cx="1901155" cy="50800"/>
          </a:xfrm>
          <a:prstGeom prst="rect">
            <a:avLst/>
          </a:prstGeom>
          <a:solidFill>
            <a:srgbClr val="FF4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8067002" y="2650000"/>
            <a:ext cx="380000" cy="380000"/>
          </a:xfrm>
          <a:prstGeom prst="ellipse">
            <a:avLst/>
          </a:prstGeom>
          <a:solidFill>
            <a:srgbClr val="FF4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057002" y="2640000"/>
            <a:ext cx="400000" cy="40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  <a:latin typeface="Segoe MDL2 Assets"/>
              </a:rPr>
              <a:t>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06425" y="3180000"/>
            <a:ext cx="1901155" cy="3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12151C"/>
                </a:solidFill>
                <a:latin typeface="맑은 고딕"/>
              </a:rPr>
              <a:t>REMEDIATE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06425" y="3510000"/>
            <a:ext cx="1901155" cy="28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4757"/>
                </a:solidFill>
                <a:latin typeface="맑은 고딕"/>
              </a:rPr>
              <a:t>조치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96425" y="3900000"/>
            <a:ext cx="1721155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0">
                <a:solidFill>
                  <a:srgbClr val="6B7280"/>
                </a:solidFill>
                <a:latin typeface="맑은 고딕"/>
              </a:rPr>
              <a:t>가장 시급한 것부터 해결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158044" y="2621955"/>
            <a:ext cx="359073" cy="46609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1" dirty="0">
                <a:solidFill>
                  <a:srgbClr val="FF4757"/>
                </a:solidFill>
                <a:latin typeface="맑은 고딕"/>
              </a:rPr>
              <a:t>→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467580" y="2280000"/>
            <a:ext cx="1901155" cy="26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9467580" y="2280000"/>
            <a:ext cx="1901155" cy="50800"/>
          </a:xfrm>
          <a:prstGeom prst="rect">
            <a:avLst/>
          </a:prstGeom>
          <a:solidFill>
            <a:srgbClr val="FF4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10228157" y="2650000"/>
            <a:ext cx="380000" cy="380000"/>
          </a:xfrm>
          <a:prstGeom prst="ellipse">
            <a:avLst/>
          </a:prstGeom>
          <a:solidFill>
            <a:srgbClr val="FF4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0218157" y="2640000"/>
            <a:ext cx="400000" cy="40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  <a:latin typeface="Segoe MDL2 Assets"/>
              </a:rPr>
              <a:t>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467580" y="3180000"/>
            <a:ext cx="1901155" cy="3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12151C"/>
                </a:solidFill>
                <a:latin typeface="맑은 고딕"/>
              </a:rPr>
              <a:t>VERIFY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467580" y="3510000"/>
            <a:ext cx="1901155" cy="28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4757"/>
                </a:solidFill>
                <a:latin typeface="맑은 고딕"/>
              </a:rPr>
              <a:t>재검증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557580" y="3900000"/>
            <a:ext cx="1721155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0">
                <a:solidFill>
                  <a:srgbClr val="6B7280"/>
                </a:solidFill>
                <a:latin typeface="맑은 고딕"/>
              </a:rPr>
              <a:t>개선을 다시 확인합니다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22960" y="5130000"/>
            <a:ext cx="10545775" cy="594360"/>
          </a:xfrm>
          <a:prstGeom prst="roundRect">
            <a:avLst>
              <a:gd name="adj" fmla="val 12000"/>
            </a:avLst>
          </a:prstGeom>
          <a:solidFill>
            <a:srgbClr val="1A1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22960" y="5130000"/>
            <a:ext cx="10545775" cy="594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↺  CONTINUOUS LOOP · 조치 후 다시 발견 단계로 돌아가 개선을 검증합니다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935991-D45F-3CD2-9ED8-5BE5DBCD204A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0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22960" y="678180"/>
            <a:ext cx="88900" cy="88900"/>
          </a:xfrm>
          <a:prstGeom prst="ellipse">
            <a:avLst/>
          </a:prstGeom>
          <a:solidFill>
            <a:srgbClr val="FF6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6160" y="614680"/>
            <a:ext cx="54864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81"/>
                </a:solidFill>
                <a:latin typeface="맑은 고딕"/>
              </a:rPr>
              <a:t>취약점 진단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FFFFFF"/>
                </a:solidFill>
                <a:latin typeface="맑은 고딕"/>
              </a:rPr>
              <a:t>어떤 환경에서도 취약점을 놓치지 않습니다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987552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0" dirty="0">
                <a:solidFill>
                  <a:srgbClr val="B8BCC8"/>
                </a:solidFill>
                <a:latin typeface="맑은 고딕"/>
              </a:rPr>
              <a:t>CCE·CVE·NSE </a:t>
            </a:r>
            <a:r>
              <a:rPr sz="1150" b="0" dirty="0" err="1">
                <a:solidFill>
                  <a:srgbClr val="B8BCC8"/>
                </a:solidFill>
                <a:latin typeface="맑은 고딕"/>
              </a:rPr>
              <a:t>Vulners</a:t>
            </a:r>
            <a:r>
              <a:rPr sz="1150" b="0" dirty="0">
                <a:solidFill>
                  <a:srgbClr val="B8BCC8"/>
                </a:solidFill>
                <a:latin typeface="맑은 고딕"/>
              </a:rPr>
              <a:t> 등 </a:t>
            </a:r>
            <a:r>
              <a:rPr sz="1150" b="0" dirty="0" err="1">
                <a:solidFill>
                  <a:srgbClr val="B8BCC8"/>
                </a:solidFill>
                <a:latin typeface="맑은 고딕"/>
              </a:rPr>
              <a:t>다양한</a:t>
            </a:r>
            <a:r>
              <a:rPr sz="1150" b="0" dirty="0">
                <a:solidFill>
                  <a:srgbClr val="B8BCC8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B8BCC8"/>
                </a:solidFill>
                <a:latin typeface="맑은 고딕"/>
              </a:rPr>
              <a:t>취약점</a:t>
            </a:r>
            <a:r>
              <a:rPr sz="1150" b="0" dirty="0">
                <a:solidFill>
                  <a:srgbClr val="B8BCC8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B8BCC8"/>
                </a:solidFill>
                <a:latin typeface="맑은 고딕"/>
              </a:rPr>
              <a:t>신호를</a:t>
            </a:r>
            <a:r>
              <a:rPr sz="1150" b="0" dirty="0">
                <a:solidFill>
                  <a:srgbClr val="B8BCC8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B8BCC8"/>
                </a:solidFill>
                <a:latin typeface="맑은 고딕"/>
              </a:rPr>
              <a:t>통합</a:t>
            </a:r>
            <a:r>
              <a:rPr sz="1150" b="0" dirty="0">
                <a:solidFill>
                  <a:srgbClr val="B8BCC8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B8BCC8"/>
                </a:solidFill>
                <a:latin typeface="맑은 고딕"/>
              </a:rPr>
              <a:t>분석하고</a:t>
            </a:r>
            <a:r>
              <a:rPr sz="1150" b="0" dirty="0">
                <a:solidFill>
                  <a:srgbClr val="B8BCC8"/>
                </a:solidFill>
                <a:latin typeface="맑은 고딕"/>
              </a:rPr>
              <a:t>, </a:t>
            </a:r>
            <a:r>
              <a:rPr lang="ko-KR" altLang="en-US" sz="1150" dirty="0">
                <a:solidFill>
                  <a:srgbClr val="B8BCC8"/>
                </a:solidFill>
                <a:latin typeface="맑은 고딕"/>
              </a:rPr>
              <a:t>온프레미스부터 클라우드까지 폭넓은 시스템 환경을 지원합니다</a:t>
            </a:r>
            <a:r>
              <a:rPr lang="en-US" altLang="ko-KR" sz="1150" dirty="0">
                <a:solidFill>
                  <a:srgbClr val="B8BCC8"/>
                </a:solidFill>
                <a:latin typeface="맑은 고딕"/>
              </a:rPr>
              <a:t>.</a:t>
            </a:r>
            <a:endParaRPr sz="1150" dirty="0">
              <a:solidFill>
                <a:srgbClr val="B8BCC8"/>
              </a:solidFill>
              <a:latin typeface="맑은 고딕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2148840"/>
            <a:ext cx="3383280" cy="3063240"/>
          </a:xfrm>
          <a:prstGeom prst="roundRect">
            <a:avLst>
              <a:gd name="adj" fmla="val 5000"/>
            </a:avLst>
          </a:prstGeom>
          <a:solidFill>
            <a:srgbClr val="242733"/>
          </a:solidFill>
          <a:ln w="12700">
            <a:solidFill>
              <a:srgbClr val="3A3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2148840"/>
            <a:ext cx="3383280" cy="50800"/>
          </a:xfrm>
          <a:prstGeom prst="rect">
            <a:avLst/>
          </a:prstGeom>
          <a:solidFill>
            <a:srgbClr val="1554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2331720"/>
            <a:ext cx="29809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554B0"/>
                </a:solidFill>
                <a:latin typeface="맑은 고딕"/>
              </a:rPr>
              <a:t>01 · CONFIGURATION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651760"/>
            <a:ext cx="298094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FFFFFF"/>
                </a:solidFill>
                <a:latin typeface="맑은 고딕"/>
              </a:rPr>
              <a:t>시스템 설정 취약점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990088"/>
            <a:ext cx="29809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B8BCC8"/>
                </a:solidFill>
                <a:latin typeface="맑은 고딕"/>
              </a:rPr>
              <a:t>CCE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3319272"/>
            <a:ext cx="2980944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B8BCC8"/>
                </a:solidFill>
                <a:latin typeface="맑은 고딕"/>
              </a:rPr>
              <a:t>시스템 및 인프라의 설정 오류를 탐지하여 구성 단계의 보안 위험을 식별합니다.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4128" y="3977640"/>
            <a:ext cx="2980944" cy="12700"/>
          </a:xfrm>
          <a:prstGeom prst="rect">
            <a:avLst/>
          </a:prstGeom>
          <a:solidFill>
            <a:srgbClr val="3A3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42416" y="4156456"/>
            <a:ext cx="63500" cy="63500"/>
          </a:xfrm>
          <a:prstGeom prst="ellipse">
            <a:avLst/>
          </a:prstGeom>
          <a:solidFill>
            <a:srgbClr val="1554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07008" y="4105656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E3E5EA"/>
                </a:solidFill>
                <a:latin typeface="맑은 고딕"/>
              </a:rPr>
              <a:t>보안 설정 기준 점검</a:t>
            </a:r>
          </a:p>
        </p:txBody>
      </p:sp>
      <p:sp>
        <p:nvSpPr>
          <p:cNvPr id="16" name="Oval 15"/>
          <p:cNvSpPr/>
          <p:nvPr/>
        </p:nvSpPr>
        <p:spPr>
          <a:xfrm>
            <a:off x="1042416" y="4467352"/>
            <a:ext cx="63500" cy="63500"/>
          </a:xfrm>
          <a:prstGeom prst="ellipse">
            <a:avLst/>
          </a:prstGeom>
          <a:solidFill>
            <a:srgbClr val="1554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07008" y="441655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E3E5EA"/>
                </a:solidFill>
                <a:latin typeface="맑은 고딕"/>
              </a:rPr>
              <a:t>서버·네트워크 구성 진단</a:t>
            </a:r>
          </a:p>
        </p:txBody>
      </p:sp>
      <p:sp>
        <p:nvSpPr>
          <p:cNvPr id="18" name="Oval 17"/>
          <p:cNvSpPr/>
          <p:nvPr/>
        </p:nvSpPr>
        <p:spPr>
          <a:xfrm>
            <a:off x="1042416" y="4778248"/>
            <a:ext cx="63500" cy="63500"/>
          </a:xfrm>
          <a:prstGeom prst="ellipse">
            <a:avLst/>
          </a:prstGeom>
          <a:solidFill>
            <a:srgbClr val="1554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07008" y="472744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E3E5EA"/>
                </a:solidFill>
                <a:latin typeface="맑은 고딕"/>
              </a:rPr>
              <a:t>보안 정책 준수 여부 검증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2148840"/>
            <a:ext cx="3383280" cy="3063240"/>
          </a:xfrm>
          <a:prstGeom prst="roundRect">
            <a:avLst>
              <a:gd name="adj" fmla="val 5000"/>
            </a:avLst>
          </a:prstGeom>
          <a:solidFill>
            <a:srgbClr val="242733"/>
          </a:solidFill>
          <a:ln w="12700">
            <a:solidFill>
              <a:srgbClr val="3A3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434840" y="2148840"/>
            <a:ext cx="3383280" cy="50800"/>
          </a:xfrm>
          <a:prstGeom prst="rect">
            <a:avLst/>
          </a:prstGeom>
          <a:solidFill>
            <a:srgbClr val="FF6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36008" y="2331720"/>
            <a:ext cx="29809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6B81"/>
                </a:solidFill>
                <a:latin typeface="맑은 고딕"/>
              </a:rPr>
              <a:t>02 · SOFTWARE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6008" y="2651760"/>
            <a:ext cx="298094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FFFFFF"/>
                </a:solidFill>
                <a:latin typeface="맑은 고딕"/>
              </a:rPr>
              <a:t>소프트웨어 취약점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6008" y="2990088"/>
            <a:ext cx="29809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B8BCC8"/>
                </a:solidFill>
                <a:latin typeface="맑은 고딕"/>
              </a:rPr>
              <a:t>CVE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8" y="3319272"/>
            <a:ext cx="2980944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B8BCC8"/>
                </a:solidFill>
                <a:latin typeface="맑은 고딕"/>
              </a:rPr>
              <a:t>OS 및 소프트웨어의 알려진 취약점을 탐지하고, 영향받는 자산과 패치 필요성을 분석합니다.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36008" y="3977640"/>
            <a:ext cx="2980944" cy="12700"/>
          </a:xfrm>
          <a:prstGeom prst="rect">
            <a:avLst/>
          </a:prstGeom>
          <a:solidFill>
            <a:srgbClr val="3A3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654296" y="4156456"/>
            <a:ext cx="63500" cy="63500"/>
          </a:xfrm>
          <a:prstGeom prst="ellipse">
            <a:avLst/>
          </a:prstGeom>
          <a:solidFill>
            <a:srgbClr val="FF6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18888" y="4105656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E3E5EA"/>
                </a:solidFill>
                <a:latin typeface="맑은 고딕"/>
              </a:rPr>
              <a:t>CVE 식별</a:t>
            </a:r>
          </a:p>
        </p:txBody>
      </p:sp>
      <p:sp>
        <p:nvSpPr>
          <p:cNvPr id="29" name="Oval 28"/>
          <p:cNvSpPr/>
          <p:nvPr/>
        </p:nvSpPr>
        <p:spPr>
          <a:xfrm>
            <a:off x="4654296" y="4467352"/>
            <a:ext cx="63500" cy="63500"/>
          </a:xfrm>
          <a:prstGeom prst="ellipse">
            <a:avLst/>
          </a:prstGeom>
          <a:solidFill>
            <a:srgbClr val="FF6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18888" y="441655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E3E5EA"/>
                </a:solidFill>
                <a:latin typeface="맑은 고딕"/>
              </a:rPr>
              <a:t>취약 버전 탐지</a:t>
            </a:r>
          </a:p>
        </p:txBody>
      </p:sp>
      <p:sp>
        <p:nvSpPr>
          <p:cNvPr id="31" name="Oval 30"/>
          <p:cNvSpPr/>
          <p:nvPr/>
        </p:nvSpPr>
        <p:spPr>
          <a:xfrm>
            <a:off x="4654296" y="4778248"/>
            <a:ext cx="63500" cy="63500"/>
          </a:xfrm>
          <a:prstGeom prst="ellipse">
            <a:avLst/>
          </a:prstGeom>
          <a:solidFill>
            <a:srgbClr val="FF6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18888" y="472744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E3E5EA"/>
                </a:solidFill>
                <a:latin typeface="맑은 고딕"/>
              </a:rPr>
              <a:t>패치 우선순위 분석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2148840"/>
            <a:ext cx="3383280" cy="3063240"/>
          </a:xfrm>
          <a:prstGeom prst="roundRect">
            <a:avLst>
              <a:gd name="adj" fmla="val 5000"/>
            </a:avLst>
          </a:prstGeom>
          <a:solidFill>
            <a:srgbClr val="242733"/>
          </a:solidFill>
          <a:ln w="12700">
            <a:solidFill>
              <a:srgbClr val="3A3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046720" y="2148840"/>
            <a:ext cx="3383280" cy="50800"/>
          </a:xfrm>
          <a:prstGeom prst="rect">
            <a:avLst/>
          </a:prstGeom>
          <a:solidFill>
            <a:srgbClr val="1554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47888" y="2331720"/>
            <a:ext cx="29809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554B0"/>
                </a:solidFill>
                <a:latin typeface="맑은 고딕"/>
              </a:rPr>
              <a:t>03 · NETWORK SCAN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47888" y="2651760"/>
            <a:ext cx="298094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FFFFFF"/>
                </a:solidFill>
                <a:latin typeface="맑은 고딕"/>
              </a:rPr>
              <a:t>네트워크 스캔 취약점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47888" y="2990088"/>
            <a:ext cx="29809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B8BCC8"/>
                </a:solidFill>
                <a:latin typeface="맑은 고딕"/>
              </a:rPr>
              <a:t>NSE Vulners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47888" y="3319272"/>
            <a:ext cx="2980944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B8BCC8"/>
                </a:solidFill>
                <a:latin typeface="맑은 고딕"/>
              </a:rPr>
              <a:t>외부 노출 포트와 네트워크 서비스를 분석하여 악용 가능한 접점을 탐지합니다.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47888" y="3977640"/>
            <a:ext cx="2980944" cy="12700"/>
          </a:xfrm>
          <a:prstGeom prst="rect">
            <a:avLst/>
          </a:prstGeom>
          <a:solidFill>
            <a:srgbClr val="3A3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266176" y="4156456"/>
            <a:ext cx="63500" cy="63500"/>
          </a:xfrm>
          <a:prstGeom prst="ellipse">
            <a:avLst/>
          </a:prstGeom>
          <a:solidFill>
            <a:srgbClr val="1554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430768" y="4105656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E3E5EA"/>
                </a:solidFill>
                <a:latin typeface="맑은 고딕"/>
              </a:rPr>
              <a:t>서비스 탐지</a:t>
            </a:r>
          </a:p>
        </p:txBody>
      </p:sp>
      <p:sp>
        <p:nvSpPr>
          <p:cNvPr id="42" name="Oval 41"/>
          <p:cNvSpPr/>
          <p:nvPr/>
        </p:nvSpPr>
        <p:spPr>
          <a:xfrm>
            <a:off x="8266176" y="4467352"/>
            <a:ext cx="63500" cy="63500"/>
          </a:xfrm>
          <a:prstGeom prst="ellipse">
            <a:avLst/>
          </a:prstGeom>
          <a:solidFill>
            <a:srgbClr val="1554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430768" y="441655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E3E5EA"/>
                </a:solidFill>
                <a:latin typeface="맑은 고딕"/>
              </a:rPr>
              <a:t>포트·서비스 탐지</a:t>
            </a:r>
          </a:p>
        </p:txBody>
      </p:sp>
      <p:sp>
        <p:nvSpPr>
          <p:cNvPr id="44" name="Oval 43"/>
          <p:cNvSpPr/>
          <p:nvPr/>
        </p:nvSpPr>
        <p:spPr>
          <a:xfrm>
            <a:off x="8266176" y="4778248"/>
            <a:ext cx="63500" cy="63500"/>
          </a:xfrm>
          <a:prstGeom prst="ellipse">
            <a:avLst/>
          </a:prstGeom>
          <a:solidFill>
            <a:srgbClr val="1554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430768" y="472744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E3E5EA"/>
                </a:solidFill>
                <a:latin typeface="맑은 고딕"/>
              </a:rPr>
              <a:t>네트워크 프로토콜 분석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2960" y="5394960"/>
            <a:ext cx="10545775" cy="548640"/>
          </a:xfrm>
          <a:prstGeom prst="roundRect">
            <a:avLst>
              <a:gd name="adj" fmla="val 20000"/>
            </a:avLst>
          </a:prstGeom>
          <a:solidFill>
            <a:srgbClr val="242733"/>
          </a:solidFill>
          <a:ln w="12700">
            <a:solidFill>
              <a:srgbClr val="3A3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2960" y="5477256"/>
            <a:ext cx="105457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3BA2F2"/>
                </a:solidFill>
                <a:latin typeface="맑은 고딕"/>
              </a:rPr>
              <a:t>UNIFIED VULNERABILITY ANALYSIS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5696712"/>
            <a:ext cx="1054577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통합 취약점 진단 결과 — 다양한 진단 결과를 종합 분석하여 자산별 실질 위험 수준을 한눈에 제시합니다.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77295" y="635508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B8BCC8"/>
                </a:solidFill>
                <a:latin typeface="맑은 고딕"/>
              </a:rPr>
              <a:t>07</a:t>
            </a:r>
          </a:p>
        </p:txBody>
      </p:sp>
      <p:pic>
        <p:nvPicPr>
          <p:cNvPr id="50" name="Picture 49" descr="bingoCVM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7201"/>
            <a:ext cx="683713" cy="170078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BAEB986D-9478-7F3E-36F1-429238E95635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0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22960" y="723900"/>
            <a:ext cx="88900" cy="88900"/>
          </a:xfrm>
          <a:prstGeom prst="ellipse">
            <a:avLst/>
          </a:prstGeom>
          <a:solidFill>
            <a:srgbClr val="C80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6160" y="660400"/>
            <a:ext cx="5486400" cy="208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1300" b="1">
                <a:solidFill>
                  <a:srgbClr val="C8001E"/>
                </a:solidFill>
                <a:latin typeface="맑은 고딕"/>
              </a:rPr>
              <a:t>SCAN METHODS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77295" y="635508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A5C63"/>
                </a:solidFill>
                <a:latin typeface="맑은 고딕"/>
              </a:rPr>
              <a:t>08</a:t>
            </a:r>
          </a:p>
        </p:txBody>
      </p:sp>
      <p:pic>
        <p:nvPicPr>
          <p:cNvPr id="33" name="Picture 32" descr="bingoCVM-logo-bklon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7201"/>
            <a:ext cx="683713" cy="17007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22960" y="98755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2151C"/>
                </a:solidFill>
                <a:latin typeface="맑은 고딕"/>
              </a:rPr>
              <a:t>환경에 맞는 진단 방식을 선택합니다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90780" y="1970000"/>
            <a:ext cx="1700000" cy="380000"/>
          </a:xfrm>
          <a:prstGeom prst="roundRect">
            <a:avLst>
              <a:gd name="adj" fmla="val 50000"/>
            </a:avLst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BingoCVM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32843" y="2350000"/>
            <a:ext cx="15875" cy="280000"/>
          </a:xfrm>
          <a:prstGeom prst="rect">
            <a:avLst/>
          </a:prstGeom>
          <a:solidFill>
            <a:srgbClr val="C7C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537460" y="2622063"/>
            <a:ext cx="7406640" cy="15875"/>
          </a:xfrm>
          <a:prstGeom prst="rect">
            <a:avLst/>
          </a:prstGeom>
          <a:solidFill>
            <a:srgbClr val="C7C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529523" y="2630000"/>
            <a:ext cx="15875" cy="420000"/>
          </a:xfrm>
          <a:prstGeom prst="rect">
            <a:avLst/>
          </a:prstGeom>
          <a:solidFill>
            <a:srgbClr val="C7C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232843" y="2630000"/>
            <a:ext cx="15875" cy="420000"/>
          </a:xfrm>
          <a:prstGeom prst="rect">
            <a:avLst/>
          </a:prstGeom>
          <a:solidFill>
            <a:srgbClr val="C7C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936163" y="2630000"/>
            <a:ext cx="15875" cy="420000"/>
          </a:xfrm>
          <a:prstGeom prst="rect">
            <a:avLst/>
          </a:prstGeom>
          <a:solidFill>
            <a:srgbClr val="C7C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2477460" y="3230000"/>
            <a:ext cx="120000" cy="120000"/>
          </a:xfrm>
          <a:prstGeom prst="ellipse">
            <a:avLst/>
          </a:prstGeom>
          <a:solidFill>
            <a:srgbClr val="3BA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2960" y="3430000"/>
            <a:ext cx="3429000" cy="34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2151C"/>
                </a:solidFill>
                <a:latin typeface="맑은 고딕"/>
              </a:rPr>
              <a:t>ONLINE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529523" y="3810000"/>
            <a:ext cx="15875" cy="280000"/>
          </a:xfrm>
          <a:prstGeom prst="rect">
            <a:avLst/>
          </a:prstGeom>
          <a:solidFill>
            <a:srgbClr val="C7C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1022960" y="4170000"/>
            <a:ext cx="3029000" cy="5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3BA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22960" y="4170000"/>
            <a:ext cx="3029000" cy="5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12151C"/>
                </a:solidFill>
                <a:latin typeface="맑은 고딕"/>
              </a:rPr>
              <a:t>Agent · Agentless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29523" y="4730000"/>
            <a:ext cx="15875" cy="220000"/>
          </a:xfrm>
          <a:prstGeom prst="rect">
            <a:avLst/>
          </a:prstGeom>
          <a:solidFill>
            <a:srgbClr val="C7C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2960" y="4990000"/>
            <a:ext cx="3429000" cy="32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실시간 자동 진단</a:t>
            </a:r>
          </a:p>
        </p:txBody>
      </p:sp>
      <p:sp>
        <p:nvSpPr>
          <p:cNvPr id="48" name="Oval 47"/>
          <p:cNvSpPr/>
          <p:nvPr/>
        </p:nvSpPr>
        <p:spPr>
          <a:xfrm>
            <a:off x="6180780" y="3230000"/>
            <a:ext cx="120000" cy="120000"/>
          </a:xfrm>
          <a:prstGeom prst="ellipse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526280" y="3430000"/>
            <a:ext cx="3429000" cy="34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2151C"/>
                </a:solidFill>
                <a:latin typeface="맑은 고딕"/>
              </a:rPr>
              <a:t>OFFLINE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32843" y="3810000"/>
            <a:ext cx="15875" cy="280000"/>
          </a:xfrm>
          <a:prstGeom prst="rect">
            <a:avLst/>
          </a:prstGeom>
          <a:solidFill>
            <a:srgbClr val="C7C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4726280" y="4170000"/>
            <a:ext cx="3029000" cy="5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7C5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726280" y="4170000"/>
            <a:ext cx="3029000" cy="5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12151C"/>
                </a:solidFill>
                <a:latin typeface="맑은 고딕"/>
              </a:rPr>
              <a:t>진단 스크립트 실행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32843" y="4730000"/>
            <a:ext cx="15875" cy="220000"/>
          </a:xfrm>
          <a:prstGeom prst="rect">
            <a:avLst/>
          </a:prstGeom>
          <a:solidFill>
            <a:srgbClr val="C7C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526280" y="4990000"/>
            <a:ext cx="3429000" cy="32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망분리 환경 진단</a:t>
            </a:r>
          </a:p>
        </p:txBody>
      </p:sp>
      <p:sp>
        <p:nvSpPr>
          <p:cNvPr id="55" name="Oval 54"/>
          <p:cNvSpPr/>
          <p:nvPr/>
        </p:nvSpPr>
        <p:spPr>
          <a:xfrm>
            <a:off x="9884100" y="3230000"/>
            <a:ext cx="120000" cy="120000"/>
          </a:xfrm>
          <a:prstGeom prst="ellipse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229600" y="3430000"/>
            <a:ext cx="3429000" cy="34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2151C"/>
                </a:solidFill>
                <a:latin typeface="맑은 고딕"/>
              </a:rPr>
              <a:t>INTERVIEW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936163" y="3810000"/>
            <a:ext cx="15875" cy="280000"/>
          </a:xfrm>
          <a:prstGeom prst="rect">
            <a:avLst/>
          </a:prstGeom>
          <a:solidFill>
            <a:srgbClr val="C7C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8429600" y="4170000"/>
            <a:ext cx="3029000" cy="5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429600" y="4170000"/>
            <a:ext cx="3029000" cy="5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12151C"/>
                </a:solidFill>
                <a:latin typeface="맑은 고딕"/>
              </a:rPr>
              <a:t>체크리스트 점검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936163" y="4730000"/>
            <a:ext cx="15875" cy="220000"/>
          </a:xfrm>
          <a:prstGeom prst="rect">
            <a:avLst/>
          </a:prstGeom>
          <a:solidFill>
            <a:srgbClr val="C7C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229600" y="4990000"/>
            <a:ext cx="3429000" cy="32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진단 불가 환경 대응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E4BB78-33DB-CE74-858E-68B1FE49AEC6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0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22960" y="723900"/>
            <a:ext cx="88900" cy="88900"/>
          </a:xfrm>
          <a:prstGeom prst="ellipse">
            <a:avLst/>
          </a:prstGeom>
          <a:solidFill>
            <a:srgbClr val="C80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6160" y="660400"/>
            <a:ext cx="54864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8001E"/>
                </a:solidFill>
                <a:latin typeface="맑은 고딕"/>
              </a:rPr>
              <a:t>THE PROOF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77295" y="635508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A5C63"/>
                </a:solidFill>
                <a:latin typeface="맑은 고딕"/>
              </a:rPr>
              <a:t>09</a:t>
            </a:r>
          </a:p>
        </p:txBody>
      </p:sp>
      <p:pic>
        <p:nvPicPr>
          <p:cNvPr id="33" name="Picture 32" descr="bingoCVM-logo-bklon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7201"/>
            <a:ext cx="683713" cy="17007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22960" y="98755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2151C"/>
                </a:solidFill>
                <a:latin typeface="맑은 고딕"/>
              </a:rPr>
              <a:t>발견으로 끝나지 않습니다. 개선을 증명합니다.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1572768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맑은 고딕"/>
              </a:rPr>
              <a:t>진단 결과와 조치 이력을 지속적으로 비교·관리하여 자산별 보안 상태의 변화를 추적합니다.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5847" y="2500000"/>
            <a:ext cx="2650000" cy="115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>
                <a:solidFill>
                  <a:srgbClr val="12151C"/>
                </a:solidFill>
                <a:latin typeface="맑은 고딕"/>
              </a:rPr>
              <a:t>128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5847" y="3710000"/>
            <a:ext cx="2650000" cy="32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1차 진단 · 취약점 발견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15847" y="2500000"/>
            <a:ext cx="420000" cy="115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C7C2B8"/>
                </a:solidFill>
                <a:latin typeface="맑은 고딕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35847" y="2500000"/>
            <a:ext cx="1650000" cy="115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FF4757"/>
                </a:solidFill>
                <a:latin typeface="맑은 고딕"/>
              </a:rPr>
              <a:t>조치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35847" y="3710000"/>
            <a:ext cx="1650000" cy="32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보안 조치 수행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85847" y="2500000"/>
            <a:ext cx="420000" cy="115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C7C2B8"/>
                </a:solidFill>
                <a:latin typeface="맑은 고딕"/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05847" y="2500000"/>
            <a:ext cx="2650000" cy="115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>
                <a:solidFill>
                  <a:srgbClr val="12151C"/>
                </a:solidFill>
                <a:latin typeface="맑은 고딕"/>
              </a:rPr>
              <a:t>73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05847" y="3710000"/>
            <a:ext cx="2650000" cy="32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2차 진단 · 재검증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55847" y="2500000"/>
            <a:ext cx="420000" cy="115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C7C2B8"/>
                </a:solidFill>
                <a:latin typeface="맑은 고딕"/>
              </a:rPr>
              <a:t>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75847" y="2500000"/>
            <a:ext cx="2650000" cy="115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>
                <a:solidFill>
                  <a:srgbClr val="FF4757"/>
                </a:solidFill>
                <a:latin typeface="맑은 고딕"/>
              </a:rPr>
              <a:t>43%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75847" y="3710000"/>
            <a:ext cx="2650000" cy="32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4757"/>
                </a:solidFill>
                <a:latin typeface="맑은 고딕"/>
              </a:rPr>
              <a:t>취약점 감소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" y="4270000"/>
            <a:ext cx="10545775" cy="12700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0" y="4530000"/>
            <a:ext cx="12191695" cy="32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12151C"/>
                </a:solidFill>
                <a:latin typeface="맑은 고딕"/>
              </a:rPr>
              <a:t>진단 → 조치 → 재진단 → 변화 추적을 하나의 플랫폼에서 관리합니다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0" y="4910000"/>
            <a:ext cx="12191695" cy="32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진단 이력 관리 · 결과 비교 분석 · 조치 현황 추적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16F34A-B423-EADE-0A43-240E92E7FC14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0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22960" y="678180"/>
            <a:ext cx="88900" cy="88900"/>
          </a:xfrm>
          <a:prstGeom prst="ellipse">
            <a:avLst/>
          </a:prstGeom>
          <a:solidFill>
            <a:srgbClr val="C80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6160" y="614680"/>
            <a:ext cx="54864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8001E"/>
                </a:solidFill>
                <a:latin typeface="맑은 고딕"/>
              </a:rPr>
              <a:t>시스템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32688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A1D26"/>
                </a:solidFill>
                <a:latin typeface="맑은 고딕"/>
              </a:rPr>
              <a:t>시스템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4475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A5C63"/>
                </a:solidFill>
                <a:latin typeface="맑은 고딕"/>
              </a:rPr>
              <a:t>BingoCVM의 시스템은 Manager Server(App + Core)와 Device/Agent(Client License)로 구성됩니다. 온프레미스/클라우드 모두 자동진단 방식을 Agent + Non-Agent(기본) 모두 지원합니다.</a:t>
            </a:r>
          </a:p>
        </p:txBody>
      </p:sp>
      <p:pic>
        <p:nvPicPr>
          <p:cNvPr id="7" name="Picture 6" descr="BingoCVMArchitectureK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40280"/>
            <a:ext cx="10543032" cy="284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2960" y="5267832"/>
            <a:ext cx="1444752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405636" y="5128132"/>
            <a:ext cx="279400" cy="279400"/>
          </a:xfrm>
          <a:prstGeom prst="ellipse">
            <a:avLst/>
          </a:prstGeom>
          <a:solidFill>
            <a:srgbClr val="1554B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414136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D26"/>
                </a:solidFill>
                <a:latin typeface="맑은 고딕"/>
              </a:rPr>
              <a:t>설치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706744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>
                <a:solidFill>
                  <a:srgbClr val="5A5C63"/>
                </a:solidFill>
                <a:latin typeface="맑은 고딕"/>
              </a:rPr>
              <a:t>Manager 구축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9797" y="5267832"/>
            <a:ext cx="1444752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922473" y="5128132"/>
            <a:ext cx="279400" cy="279400"/>
          </a:xfrm>
          <a:prstGeom prst="ellipse">
            <a:avLst/>
          </a:prstGeom>
          <a:solidFill>
            <a:srgbClr val="1554B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9797" y="5414136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D26"/>
                </a:solidFill>
                <a:latin typeface="맑은 고딕"/>
              </a:rPr>
              <a:t>자산등록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9797" y="5706744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>
                <a:solidFill>
                  <a:srgbClr val="5A5C63"/>
                </a:solidFill>
                <a:latin typeface="맑은 고딕"/>
              </a:rPr>
              <a:t>대상 호스트 등록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56634" y="5267832"/>
            <a:ext cx="1444752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439310" y="5128132"/>
            <a:ext cx="279400" cy="279400"/>
          </a:xfrm>
          <a:prstGeom prst="ellipse">
            <a:avLst/>
          </a:prstGeom>
          <a:solidFill>
            <a:srgbClr val="1554B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6634" y="5414136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D26"/>
                </a:solidFill>
                <a:latin typeface="맑은 고딕"/>
              </a:rPr>
              <a:t>진단 실행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56634" y="5706744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>
                <a:solidFill>
                  <a:srgbClr val="5A5C63"/>
                </a:solidFill>
                <a:latin typeface="맑은 고딕"/>
              </a:rPr>
              <a:t>취약점 진단 명령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73471" y="5267832"/>
            <a:ext cx="1444752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956147" y="5128132"/>
            <a:ext cx="279400" cy="279400"/>
          </a:xfrm>
          <a:prstGeom prst="ellipse">
            <a:avLst/>
          </a:prstGeom>
          <a:solidFill>
            <a:srgbClr val="C8001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4.1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73471" y="5414136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D26"/>
                </a:solidFill>
                <a:latin typeface="맑은 고딕"/>
              </a:rPr>
              <a:t>수집(내부)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3471" y="5706744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>
                <a:solidFill>
                  <a:srgbClr val="5A5C63"/>
                </a:solidFill>
                <a:latin typeface="맑은 고딕"/>
              </a:rPr>
              <a:t>On-Prem 데이터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90308" y="5267832"/>
            <a:ext cx="1444752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472984" y="5128132"/>
            <a:ext cx="279400" cy="279400"/>
          </a:xfrm>
          <a:prstGeom prst="ellipse">
            <a:avLst/>
          </a:prstGeom>
          <a:solidFill>
            <a:srgbClr val="C8001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4.2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0308" y="5414136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dirty="0" err="1">
                <a:solidFill>
                  <a:srgbClr val="1A1D26"/>
                </a:solidFill>
                <a:latin typeface="맑은 고딕"/>
              </a:rPr>
              <a:t>수집</a:t>
            </a:r>
            <a:r>
              <a:rPr sz="1050" b="1" dirty="0">
                <a:solidFill>
                  <a:srgbClr val="1A1D26"/>
                </a:solidFill>
                <a:latin typeface="맑은 고딕"/>
              </a:rPr>
              <a:t>(</a:t>
            </a:r>
            <a:r>
              <a:rPr sz="1050" b="1" dirty="0" err="1">
                <a:solidFill>
                  <a:srgbClr val="1A1D26"/>
                </a:solidFill>
                <a:latin typeface="맑은 고딕"/>
              </a:rPr>
              <a:t>외부</a:t>
            </a:r>
            <a:r>
              <a:rPr sz="1050" b="1" dirty="0">
                <a:solidFill>
                  <a:srgbClr val="1A1D26"/>
                </a:solidFill>
                <a:latin typeface="맑은 고딕"/>
              </a:rPr>
              <a:t>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0308" y="5706744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>
                <a:solidFill>
                  <a:srgbClr val="5A5C63"/>
                </a:solidFill>
                <a:latin typeface="맑은 고딕"/>
              </a:rPr>
              <a:t>Cloud 데이터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07145" y="5267832"/>
            <a:ext cx="1444752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989821" y="5128132"/>
            <a:ext cx="279400" cy="279400"/>
          </a:xfrm>
          <a:prstGeom prst="ellipse">
            <a:avLst/>
          </a:prstGeom>
          <a:solidFill>
            <a:srgbClr val="1554B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07145" y="5414136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D26"/>
                </a:solidFill>
                <a:latin typeface="맑은 고딕"/>
              </a:rPr>
              <a:t>분석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07145" y="5706744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>
                <a:solidFill>
                  <a:srgbClr val="5A5C63"/>
                </a:solidFill>
                <a:latin typeface="맑은 고딕"/>
              </a:rPr>
              <a:t>취약점 분석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23982" y="5267832"/>
            <a:ext cx="1444752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506658" y="5128132"/>
            <a:ext cx="279400" cy="279400"/>
          </a:xfrm>
          <a:prstGeom prst="ellipse">
            <a:avLst/>
          </a:prstGeom>
          <a:solidFill>
            <a:srgbClr val="1554B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3982" y="5414136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D26"/>
                </a:solidFill>
                <a:latin typeface="맑은 고딕"/>
              </a:rPr>
              <a:t>리포트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23982" y="5706744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>
                <a:solidFill>
                  <a:srgbClr val="5A5C63"/>
                </a:solidFill>
                <a:latin typeface="맑은 고딕"/>
              </a:rPr>
              <a:t>결과/조치 가이드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77295" y="635508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5A5C63"/>
                </a:solidFill>
                <a:latin typeface="맑은 고딕"/>
              </a:rPr>
              <a:t>10</a:t>
            </a:r>
          </a:p>
        </p:txBody>
      </p:sp>
      <p:pic>
        <p:nvPicPr>
          <p:cNvPr id="37" name="Picture 36" descr="bingoCVM-logo-bklon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7201"/>
            <a:ext cx="683713" cy="170078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24586CA8-DA63-EB5B-E9BD-E1A7A055CB5D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0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22960" y="678180"/>
            <a:ext cx="88900" cy="88900"/>
          </a:xfrm>
          <a:prstGeom prst="ellipse">
            <a:avLst/>
          </a:prstGeom>
          <a:solidFill>
            <a:srgbClr val="3BA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6160" y="614680"/>
            <a:ext cx="54864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BA2F2"/>
                </a:solidFill>
                <a:latin typeface="맑은 고딕"/>
              </a:rPr>
              <a:t>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32688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FFFFFF"/>
                </a:solidFill>
                <a:latin typeface="맑은 고딕"/>
              </a:rPr>
              <a:t>지원 플랫폼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4475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dirty="0" err="1">
                <a:solidFill>
                  <a:srgbClr val="B8BCC8"/>
                </a:solidFill>
                <a:latin typeface="맑은 고딕"/>
              </a:rPr>
              <a:t>BingoCVM은</a:t>
            </a:r>
            <a:r>
              <a:rPr sz="1100" b="0" dirty="0">
                <a:solidFill>
                  <a:srgbClr val="B8BCC8"/>
                </a:solidFill>
                <a:latin typeface="맑은 고딕"/>
              </a:rPr>
              <a:t> KISA </a:t>
            </a:r>
            <a:r>
              <a:rPr sz="1100" b="0" dirty="0" err="1">
                <a:solidFill>
                  <a:srgbClr val="B8BCC8"/>
                </a:solidFill>
                <a:latin typeface="맑은 고딕"/>
              </a:rPr>
              <a:t>취약점점검</a:t>
            </a:r>
            <a:r>
              <a:rPr sz="1100" b="0" dirty="0">
                <a:solidFill>
                  <a:srgbClr val="B8BCC8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B8BCC8"/>
                </a:solidFill>
                <a:latin typeface="맑은 고딕"/>
              </a:rPr>
              <a:t>가이드</a:t>
            </a:r>
            <a:r>
              <a:rPr sz="1100" b="0" dirty="0">
                <a:solidFill>
                  <a:srgbClr val="B8BCC8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B8BCC8"/>
                </a:solidFill>
                <a:latin typeface="맑은 고딕"/>
              </a:rPr>
              <a:t>기준으로</a:t>
            </a:r>
            <a:r>
              <a:rPr sz="1100" b="0" dirty="0">
                <a:solidFill>
                  <a:srgbClr val="B8BCC8"/>
                </a:solidFill>
                <a:latin typeface="맑은 고딕"/>
              </a:rPr>
              <a:t>, </a:t>
            </a:r>
            <a:r>
              <a:rPr sz="1100" b="0" dirty="0" err="1">
                <a:solidFill>
                  <a:srgbClr val="B8BCC8"/>
                </a:solidFill>
                <a:latin typeface="맑은 고딕"/>
              </a:rPr>
              <a:t>온프레미스부터</a:t>
            </a:r>
            <a:r>
              <a:rPr sz="1100" b="0" dirty="0">
                <a:solidFill>
                  <a:srgbClr val="B8BCC8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B8BCC8"/>
                </a:solidFill>
                <a:latin typeface="맑은 고딕"/>
              </a:rPr>
              <a:t>클라우드까지</a:t>
            </a:r>
            <a:r>
              <a:rPr sz="1100" b="0" dirty="0">
                <a:solidFill>
                  <a:srgbClr val="B8BCC8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B8BCC8"/>
                </a:solidFill>
                <a:latin typeface="맑은 고딕"/>
              </a:rPr>
              <a:t>폭넓은</a:t>
            </a:r>
            <a:r>
              <a:rPr sz="1100" b="0" dirty="0">
                <a:solidFill>
                  <a:srgbClr val="B8BCC8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B8BCC8"/>
                </a:solidFill>
                <a:latin typeface="맑은 고딕"/>
              </a:rPr>
              <a:t>시스템</a:t>
            </a:r>
            <a:r>
              <a:rPr sz="1100" b="0" dirty="0">
                <a:solidFill>
                  <a:srgbClr val="B8BCC8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B8BCC8"/>
                </a:solidFill>
                <a:latin typeface="맑은 고딕"/>
              </a:rPr>
              <a:t>환경을</a:t>
            </a:r>
            <a:r>
              <a:rPr sz="1100" b="0" dirty="0">
                <a:solidFill>
                  <a:srgbClr val="B8BCC8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B8BCC8"/>
                </a:solidFill>
                <a:latin typeface="맑은 고딕"/>
              </a:rPr>
              <a:t>지원합니다</a:t>
            </a:r>
            <a:r>
              <a:rPr sz="1100" b="0" dirty="0">
                <a:solidFill>
                  <a:srgbClr val="B8BCC8"/>
                </a:solidFill>
                <a:latin typeface="맑은 고딕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240280"/>
            <a:ext cx="3383280" cy="3749039"/>
          </a:xfrm>
          <a:prstGeom prst="roundRect">
            <a:avLst>
              <a:gd name="adj" fmla="val 5000"/>
            </a:avLst>
          </a:prstGeom>
          <a:solidFill>
            <a:srgbClr val="242733"/>
          </a:solidFill>
          <a:ln w="12700">
            <a:solidFill>
              <a:srgbClr val="3A3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2240280"/>
            <a:ext cx="3383280" cy="50800"/>
          </a:xfrm>
          <a:prstGeom prst="rect">
            <a:avLst/>
          </a:prstGeom>
          <a:solidFill>
            <a:srgbClr val="1554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42416" y="2441448"/>
            <a:ext cx="29443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dirty="0">
                <a:solidFill>
                  <a:srgbClr val="FFFFFF"/>
                </a:solidFill>
                <a:latin typeface="맑은 고딕"/>
              </a:rPr>
              <a:t>OS &amp; </a:t>
            </a:r>
            <a:r>
              <a:rPr sz="1450" b="1" dirty="0" err="1">
                <a:solidFill>
                  <a:srgbClr val="FFFFFF"/>
                </a:solidFill>
                <a:latin typeface="맑은 고딕"/>
              </a:rPr>
              <a:t>가상화</a:t>
            </a:r>
            <a:endParaRPr sz="145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42416" y="2898648"/>
            <a:ext cx="29443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BA2F2"/>
                </a:solidFill>
                <a:latin typeface="맑은 고딕"/>
              </a:rPr>
              <a:t>Windows 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3127248"/>
            <a:ext cx="29443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B8BCC8"/>
                </a:solidFill>
                <a:latin typeface="맑은 고딕"/>
              </a:rPr>
              <a:t>2003 R2, 2008 ~ 2022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" y="3520440"/>
            <a:ext cx="29443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BA2F2"/>
                </a:solidFill>
                <a:latin typeface="맑은 고딕"/>
              </a:rPr>
              <a:t>Windows PC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" y="3749040"/>
            <a:ext cx="29443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B8BCC8"/>
                </a:solidFill>
                <a:latin typeface="맑은 고딕"/>
              </a:rPr>
              <a:t>7, 8, 10, 11, Mac PC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" y="4142232"/>
            <a:ext cx="29443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BA2F2"/>
                </a:solidFill>
                <a:latin typeface="맑은 고딕"/>
              </a:rPr>
              <a:t>Linux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" y="4370832"/>
            <a:ext cx="29443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B8BCC8"/>
                </a:solidFill>
                <a:latin typeface="맑은 고딕"/>
              </a:rPr>
              <a:t>RHEL, CentOS, Ubuntu, Rocky, Debian, Amazon Linux 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" y="4764024"/>
            <a:ext cx="29443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BA2F2"/>
                </a:solidFill>
                <a:latin typeface="맑은 고딕"/>
              </a:rPr>
              <a:t>Unix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" y="4992624"/>
            <a:ext cx="29443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B8BCC8"/>
                </a:solidFill>
                <a:latin typeface="맑은 고딕"/>
              </a:rPr>
              <a:t>HP-UX(11+), AIX(5.2+), Solaris(5.8+)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" y="5385816"/>
            <a:ext cx="29443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BA2F2"/>
                </a:solidFill>
                <a:latin typeface="맑은 고딕"/>
              </a:rPr>
              <a:t>Virtualization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" y="5614416"/>
            <a:ext cx="29443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B8BCC8"/>
                </a:solidFill>
                <a:latin typeface="맑은 고딕"/>
              </a:rPr>
              <a:t>ESXi, Hyper-V, KVM, Docker, Kubernetes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2240280"/>
            <a:ext cx="3383280" cy="3749039"/>
          </a:xfrm>
          <a:prstGeom prst="roundRect">
            <a:avLst>
              <a:gd name="adj" fmla="val 5000"/>
            </a:avLst>
          </a:prstGeom>
          <a:solidFill>
            <a:srgbClr val="242733"/>
          </a:solidFill>
          <a:ln w="12700">
            <a:solidFill>
              <a:srgbClr val="3A3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434840" y="2240280"/>
            <a:ext cx="3383280" cy="50800"/>
          </a:xfrm>
          <a:prstGeom prst="rect">
            <a:avLst/>
          </a:prstGeom>
          <a:solidFill>
            <a:srgbClr val="1554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54296" y="2441448"/>
            <a:ext cx="29443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FFFFFF"/>
                </a:solidFill>
                <a:latin typeface="맑은 고딕"/>
              </a:rPr>
              <a:t>DBMS &amp; Cloud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54296" y="2898648"/>
            <a:ext cx="29443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BA2F2"/>
                </a:solidFill>
                <a:latin typeface="맑은 고딕"/>
              </a:rPr>
              <a:t>RDBMS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54296" y="3127248"/>
            <a:ext cx="29443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B8BCC8"/>
                </a:solidFill>
                <a:latin typeface="맑은 고딕"/>
              </a:rPr>
              <a:t>Oracle, MySQL, MSSQL, MariaDB, PostgreSQL, Tibero, Cubrid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54296" y="3520440"/>
            <a:ext cx="29443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BA2F2"/>
                </a:solidFill>
                <a:latin typeface="맑은 고딕"/>
              </a:rPr>
              <a:t>NoSQL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54296" y="3749040"/>
            <a:ext cx="29443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B8BCC8"/>
                </a:solidFill>
                <a:latin typeface="맑은 고딕"/>
              </a:rPr>
              <a:t>MongoDB, Redis, Elasticsearch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54296" y="4142232"/>
            <a:ext cx="29443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BA2F2"/>
                </a:solidFill>
                <a:latin typeface="맑은 고딕"/>
              </a:rPr>
              <a:t>Cloud Platform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54296" y="4370832"/>
            <a:ext cx="29443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B8BCC8"/>
                </a:solidFill>
                <a:latin typeface="맑은 고딕"/>
              </a:rPr>
              <a:t>AWS, Azure, GCP, KT Cloud, Naver Cloud 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54296" y="4764024"/>
            <a:ext cx="29443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BA2F2"/>
                </a:solidFill>
                <a:latin typeface="맑은 고딕"/>
              </a:rPr>
              <a:t>Cloud Infra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54296" y="4992624"/>
            <a:ext cx="29443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B8BCC8"/>
                </a:solidFill>
                <a:latin typeface="맑은 고딕"/>
              </a:rPr>
              <a:t>VM, Container, K8S, Cloud DB, OpenStack, Hadoop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2240280"/>
            <a:ext cx="3383280" cy="3749039"/>
          </a:xfrm>
          <a:prstGeom prst="roundRect">
            <a:avLst>
              <a:gd name="adj" fmla="val 5000"/>
            </a:avLst>
          </a:prstGeom>
          <a:solidFill>
            <a:srgbClr val="242733"/>
          </a:solidFill>
          <a:ln w="12700">
            <a:solidFill>
              <a:srgbClr val="3A3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046720" y="2240280"/>
            <a:ext cx="3383280" cy="50800"/>
          </a:xfrm>
          <a:prstGeom prst="rect">
            <a:avLst/>
          </a:prstGeom>
          <a:solidFill>
            <a:srgbClr val="1554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66176" y="2441448"/>
            <a:ext cx="29443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FFFFFF"/>
                </a:solidFill>
                <a:latin typeface="맑은 고딕"/>
              </a:rPr>
              <a:t>WEB/WAS &amp; Network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66176" y="2898648"/>
            <a:ext cx="29443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BA2F2"/>
                </a:solidFill>
                <a:latin typeface="맑은 고딕"/>
              </a:rPr>
              <a:t>WEB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6176" y="3127248"/>
            <a:ext cx="29443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B8BCC8"/>
                </a:solidFill>
                <a:latin typeface="맑은 고딕"/>
              </a:rPr>
              <a:t>Apache, IIS, Nginx, WebtoB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6176" y="3520440"/>
            <a:ext cx="29443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BA2F2"/>
                </a:solidFill>
                <a:latin typeface="맑은 고딕"/>
              </a:rPr>
              <a:t>WAS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66176" y="3749040"/>
            <a:ext cx="29443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B8BCC8"/>
                </a:solidFill>
                <a:latin typeface="맑은 고딕"/>
              </a:rPr>
              <a:t>Tomcat, Jeus, WebSphere, WebLogic, JBoss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66176" y="4142232"/>
            <a:ext cx="29443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BA2F2"/>
                </a:solidFill>
                <a:latin typeface="맑은 고딕"/>
              </a:rPr>
              <a:t>Network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66176" y="4370832"/>
            <a:ext cx="29443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B8BCC8"/>
                </a:solidFill>
                <a:latin typeface="맑은 고딕"/>
              </a:rPr>
              <a:t>Cisco, Juniper, Alteon 등 스위치/라우터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66176" y="4764024"/>
            <a:ext cx="29443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BA2F2"/>
                </a:solidFill>
                <a:latin typeface="맑은 고딕"/>
              </a:rPr>
              <a:t>Security Device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66176" y="4992624"/>
            <a:ext cx="29443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B8BCC8"/>
                </a:solidFill>
                <a:latin typeface="맑은 고딕"/>
              </a:rPr>
              <a:t>Firewall, IPS, VPN, DDoS (매뉴얼 진단 지원)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77295" y="635508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B8BCC8"/>
                </a:solidFill>
                <a:latin typeface="맑은 고딕"/>
              </a:rPr>
              <a:t>11</a:t>
            </a:r>
          </a:p>
        </p:txBody>
      </p:sp>
      <p:pic>
        <p:nvPicPr>
          <p:cNvPr id="43" name="Picture 42" descr="bingoCVM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7201"/>
            <a:ext cx="683713" cy="170078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2E35CAF9-62A1-CB33-66F6-FC070E2A99D9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0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22960" y="678180"/>
            <a:ext cx="88900" cy="88900"/>
          </a:xfrm>
          <a:prstGeom prst="ellipse">
            <a:avLst/>
          </a:prstGeom>
          <a:solidFill>
            <a:srgbClr val="FF6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277295" y="635508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B8BCC8"/>
                </a:solidFill>
                <a:latin typeface="맑은 고딕"/>
              </a:rPr>
              <a:t>12</a:t>
            </a:r>
          </a:p>
        </p:txBody>
      </p:sp>
      <p:pic>
        <p:nvPicPr>
          <p:cNvPr id="29" name="Picture 28" descr="bingoCVM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7201"/>
            <a:ext cx="683713" cy="17007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26160" y="614680"/>
            <a:ext cx="54864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4757"/>
                </a:solidFill>
                <a:latin typeface="맑은 고딕"/>
              </a:rPr>
              <a:t>THE CONCLUSION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1250000"/>
            <a:ext cx="10545775" cy="1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FFFFFF"/>
                </a:solidFill>
                <a:latin typeface="맑은 고딕"/>
              </a:rPr>
              <a:t>더 많이 탐지하는 것보다,</a:t>
            </a:r>
            <a:br/>
            <a:r>
              <a:rPr sz="3000" b="1">
                <a:solidFill>
                  <a:srgbClr val="FF4757"/>
                </a:solidFill>
                <a:latin typeface="맑은 고딕"/>
              </a:rPr>
              <a:t>더 중요한 위협을 해결하는 것이 먼저입니다.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0" y="3350000"/>
            <a:ext cx="12191695" cy="32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9AA0AE"/>
                </a:solidFill>
                <a:latin typeface="맑은 고딕"/>
              </a:rPr>
              <a:t>DISCOVER</a:t>
            </a:r>
            <a:r>
              <a:rPr sz="1300" b="0">
                <a:solidFill>
                  <a:srgbClr val="6B7280"/>
                </a:solidFill>
                <a:latin typeface="맑은 고딕"/>
              </a:rPr>
              <a:t>   →   </a:t>
            </a:r>
            <a:r>
              <a:rPr sz="1300" b="1">
                <a:solidFill>
                  <a:srgbClr val="9AA0AE"/>
                </a:solidFill>
                <a:latin typeface="맑은 고딕"/>
              </a:rPr>
              <a:t>VERIFY</a:t>
            </a:r>
            <a:r>
              <a:rPr sz="1300" b="0">
                <a:solidFill>
                  <a:srgbClr val="6B7280"/>
                </a:solidFill>
                <a:latin typeface="맑은 고딕"/>
              </a:rPr>
              <a:t>   →   </a:t>
            </a:r>
            <a:r>
              <a:rPr sz="1300" b="1">
                <a:solidFill>
                  <a:srgbClr val="9AA0AE"/>
                </a:solidFill>
                <a:latin typeface="맑은 고딕"/>
              </a:rPr>
              <a:t>EVALUATE</a:t>
            </a:r>
            <a:r>
              <a:rPr sz="1300" b="0">
                <a:solidFill>
                  <a:srgbClr val="6B7280"/>
                </a:solidFill>
                <a:latin typeface="맑은 고딕"/>
              </a:rPr>
              <a:t>   →   </a:t>
            </a:r>
            <a:r>
              <a:rPr sz="1300" b="1">
                <a:solidFill>
                  <a:srgbClr val="9AA0AE"/>
                </a:solidFill>
                <a:latin typeface="맑은 고딕"/>
              </a:rPr>
              <a:t>DECIDE</a:t>
            </a:r>
            <a:r>
              <a:rPr sz="1300" b="0">
                <a:solidFill>
                  <a:srgbClr val="6B7280"/>
                </a:solidFill>
                <a:latin typeface="맑은 고딕"/>
              </a:rPr>
              <a:t>   →   </a:t>
            </a:r>
            <a:r>
              <a:rPr sz="1300" b="1">
                <a:solidFill>
                  <a:srgbClr val="FF4757"/>
                </a:solidFill>
                <a:latin typeface="맑은 고딕"/>
              </a:rPr>
              <a:t>ACT</a:t>
            </a:r>
            <a:r>
              <a:rPr sz="1300" b="0">
                <a:solidFill>
                  <a:srgbClr val="6B7280"/>
                </a:solidFill>
                <a:latin typeface="맑은 고딕"/>
              </a:rPr>
              <a:t>   →   </a:t>
            </a:r>
            <a:r>
              <a:rPr sz="1300" b="1">
                <a:solidFill>
                  <a:srgbClr val="FF4757"/>
                </a:solidFill>
                <a:latin typeface="맑은 고딕"/>
              </a:rPr>
              <a:t>VERIFY AGAIN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22960" y="4050000"/>
            <a:ext cx="2945775" cy="6350"/>
          </a:xfrm>
          <a:prstGeom prst="rect">
            <a:avLst/>
          </a:prstGeom>
          <a:solidFill>
            <a:srgbClr val="2E3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0" y="4450000"/>
            <a:ext cx="12191695" cy="5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9AA0AE"/>
                </a:solidFill>
                <a:latin typeface="맑은 고딕"/>
              </a:rPr>
              <a:t>From Vulnerability Management 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0" y="4830000"/>
            <a:ext cx="12191695" cy="6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1">
                <a:solidFill>
                  <a:srgbClr val="FFFFFF"/>
                </a:solidFill>
                <a:latin typeface="맑은 고딕"/>
              </a:rPr>
              <a:t>Risk-Based Security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6BD2CA-E566-04B6-05A1-2D576CFA4315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0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09988-FC31-2815-75F4-89109AF1F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77295" y="635508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5A5C63"/>
                </a:solidFill>
                <a:latin typeface="맑은 고딕"/>
              </a:rPr>
              <a:t>13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7201"/>
            <a:ext cx="683971" cy="170078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822960" y="678485"/>
            <a:ext cx="88697" cy="88697"/>
          </a:xfrm>
          <a:prstGeom prst="ellipse">
            <a:avLst/>
          </a:prstGeom>
          <a:solidFill>
            <a:srgbClr val="1554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5957" y="614477"/>
            <a:ext cx="7315200" cy="2542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554B0"/>
                </a:solidFill>
                <a:latin typeface="맑은 고딕"/>
              </a:rPr>
              <a:t>01 · ASSET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14477"/>
            <a:ext cx="3596335" cy="2542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1">
                <a:solidFill>
                  <a:srgbClr val="5A5C63"/>
                </a:solidFill>
                <a:latin typeface="맑은 고딕"/>
              </a:rPr>
              <a:t>PRODUCT IN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91440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A1D26"/>
                </a:solidFill>
                <a:latin typeface="맑은 고딕"/>
              </a:rPr>
              <a:t>하나의 화면에서 자산부터 조치까지 관리합니다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4475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5A5C63"/>
                </a:solidFill>
                <a:latin typeface="맑은 고딕"/>
              </a:rPr>
              <a:t>자산 현황, 진단 실행, 결과 확인, 조치 상태를 하나의 화면에서 관리합니다.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2520" y="1920240"/>
            <a:ext cx="2926080" cy="78638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897112" y="2084832"/>
            <a:ext cx="457200" cy="457200"/>
          </a:xfrm>
          <a:prstGeom prst="ellipse">
            <a:avLst/>
          </a:prstGeom>
          <a:solidFill>
            <a:srgbClr val="1554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0616" y="203911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A1D26"/>
                </a:solidFill>
                <a:latin typeface="맑은 고딕"/>
              </a:rPr>
              <a:t>자산 현황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616" y="2313432"/>
            <a:ext cx="2011680" cy="1347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69" b="0" dirty="0" err="1">
                <a:solidFill>
                  <a:srgbClr val="5A5C63"/>
                </a:solidFill>
                <a:latin typeface="맑은 고딕"/>
              </a:rPr>
              <a:t>전체</a:t>
            </a:r>
            <a:r>
              <a:rPr sz="869" b="0" dirty="0">
                <a:solidFill>
                  <a:srgbClr val="5A5C63"/>
                </a:solidFill>
                <a:latin typeface="맑은 고딕"/>
              </a:rPr>
              <a:t> </a:t>
            </a:r>
            <a:r>
              <a:rPr sz="869" b="0" dirty="0" err="1">
                <a:solidFill>
                  <a:srgbClr val="5A5C63"/>
                </a:solidFill>
                <a:latin typeface="맑은 고딕"/>
              </a:rPr>
              <a:t>자산</a:t>
            </a:r>
            <a:r>
              <a:rPr lang="en-US" sz="869" b="0" dirty="0">
                <a:solidFill>
                  <a:srgbClr val="5A5C63"/>
                </a:solidFill>
                <a:latin typeface="맑은 고딕"/>
              </a:rPr>
              <a:t> </a:t>
            </a:r>
            <a:r>
              <a:rPr sz="869" b="0" dirty="0">
                <a:solidFill>
                  <a:srgbClr val="5A5C63"/>
                </a:solidFill>
                <a:latin typeface="맑은 고딕"/>
              </a:rPr>
              <a:t>에 </a:t>
            </a:r>
            <a:r>
              <a:rPr sz="869" b="0" dirty="0" err="1">
                <a:solidFill>
                  <a:srgbClr val="5A5C63"/>
                </a:solidFill>
                <a:latin typeface="맑은 고딕"/>
              </a:rPr>
              <a:t>확인</a:t>
            </a:r>
            <a:endParaRPr sz="869" b="0" dirty="0">
              <a:solidFill>
                <a:srgbClr val="5A5C63"/>
              </a:solidFill>
              <a:latin typeface="맑은 고딕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732520" y="2724912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1554B0"/>
                </a:solidFill>
                <a:latin typeface="맑은 고딕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3017520"/>
            <a:ext cx="2926080" cy="78638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897112" y="3182112"/>
            <a:ext cx="457200" cy="457200"/>
          </a:xfrm>
          <a:prstGeom prst="ellipse">
            <a:avLst/>
          </a:prstGeom>
          <a:solidFill>
            <a:srgbClr val="1554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0616" y="313639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A1D26"/>
                </a:solidFill>
                <a:latin typeface="맑은 고딕"/>
              </a:rPr>
              <a:t>진단 실행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0616" y="3410712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69" b="0" dirty="0" err="1">
                <a:solidFill>
                  <a:srgbClr val="5A5C63"/>
                </a:solidFill>
                <a:latin typeface="맑은 고딕"/>
              </a:rPr>
              <a:t>자동·수동</a:t>
            </a:r>
            <a:r>
              <a:rPr sz="869" b="0" dirty="0">
                <a:solidFill>
                  <a:srgbClr val="5A5C63"/>
                </a:solidFill>
                <a:latin typeface="맑은 고딕"/>
              </a:rPr>
              <a:t> </a:t>
            </a:r>
            <a:r>
              <a:rPr sz="869" b="0" dirty="0" err="1">
                <a:solidFill>
                  <a:srgbClr val="5A5C63"/>
                </a:solidFill>
                <a:latin typeface="맑은 고딕"/>
              </a:rPr>
              <a:t>진단을</a:t>
            </a:r>
            <a:r>
              <a:rPr sz="869" b="0" dirty="0">
                <a:solidFill>
                  <a:srgbClr val="5A5C63"/>
                </a:solidFill>
                <a:latin typeface="맑은 고딕"/>
              </a:rPr>
              <a:t> </a:t>
            </a:r>
            <a:r>
              <a:rPr sz="869" b="0" dirty="0" err="1">
                <a:solidFill>
                  <a:srgbClr val="5A5C63"/>
                </a:solidFill>
                <a:latin typeface="맑은 고딕"/>
              </a:rPr>
              <a:t>즉시</a:t>
            </a:r>
            <a:r>
              <a:rPr sz="869" b="0" dirty="0">
                <a:solidFill>
                  <a:srgbClr val="5A5C63"/>
                </a:solidFill>
                <a:latin typeface="맑은 고딕"/>
              </a:rPr>
              <a:t> </a:t>
            </a:r>
            <a:r>
              <a:rPr sz="869" b="0" dirty="0" err="1">
                <a:solidFill>
                  <a:srgbClr val="5A5C63"/>
                </a:solidFill>
                <a:latin typeface="맑은 고딕"/>
              </a:rPr>
              <a:t>실행</a:t>
            </a:r>
            <a:endParaRPr sz="869" b="0" dirty="0">
              <a:solidFill>
                <a:srgbClr val="5A5C63"/>
              </a:solidFill>
              <a:latin typeface="맑은 고딕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732520" y="3822192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1554B0"/>
                </a:solidFill>
                <a:latin typeface="맑은 고딕"/>
              </a:rP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4114800"/>
            <a:ext cx="2926080" cy="78638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897112" y="4279392"/>
            <a:ext cx="457200" cy="457200"/>
          </a:xfrm>
          <a:prstGeom prst="ellipse">
            <a:avLst/>
          </a:prstGeom>
          <a:solidFill>
            <a:srgbClr val="1554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0616" y="423367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A1D26"/>
                </a:solidFill>
                <a:latin typeface="맑은 고딕"/>
              </a:rPr>
              <a:t>취약점 결과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0616" y="4507992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69" b="0">
                <a:solidFill>
                  <a:srgbClr val="5A5C63"/>
                </a:solidFill>
                <a:latin typeface="맑은 고딕"/>
              </a:rPr>
              <a:t>발견된 취약점을 상세하게 확인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4919472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1554B0"/>
                </a:solidFill>
                <a:latin typeface="맑은 고딕"/>
              </a:rPr>
              <a:t>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32520" y="5212080"/>
            <a:ext cx="2926080" cy="78638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897112" y="5376672"/>
            <a:ext cx="457200" cy="457200"/>
          </a:xfrm>
          <a:prstGeom prst="ellipse">
            <a:avLst/>
          </a:prstGeom>
          <a:solidFill>
            <a:srgbClr val="1554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0616" y="533095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A1D26"/>
                </a:solidFill>
                <a:latin typeface="맑은 고딕"/>
              </a:rPr>
              <a:t>조치 상태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5605272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69" b="0">
                <a:solidFill>
                  <a:srgbClr val="5A5C63"/>
                </a:solidFill>
                <a:latin typeface="맑은 고딕"/>
              </a:rPr>
              <a:t>조치 진행 상황을 추적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B70BE01-55EC-1AF7-541F-2D688912E0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9471" y="1920240"/>
            <a:ext cx="3815397" cy="2212652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DE6E6C6D-ACE1-DF5A-9A67-325F6586D3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988" y="4526084"/>
            <a:ext cx="7777098" cy="130498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9BB2C74D-72B8-872C-39D3-5451C59AEC0A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0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1A08AA72-CEA9-AAC6-B397-B8AB452194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784" y="1920240"/>
            <a:ext cx="3671643" cy="219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4051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82D12-508E-97BD-1E0D-43BF45021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-4823"/>
            <a:ext cx="12191695" cy="6858000"/>
          </a:xfrm>
          <a:prstGeom prst="rect">
            <a:avLst/>
          </a:prstGeom>
          <a:solidFill>
            <a:srgbClr val="F4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77295" y="635508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5A5C63"/>
                </a:solidFill>
                <a:latin typeface="맑은 고딕"/>
              </a:rPr>
              <a:t>14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7201"/>
            <a:ext cx="683971" cy="170078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822960" y="678485"/>
            <a:ext cx="88697" cy="88697"/>
          </a:xfrm>
          <a:prstGeom prst="ellipse">
            <a:avLst/>
          </a:prstGeom>
          <a:solidFill>
            <a:srgbClr val="FF6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5957" y="614477"/>
            <a:ext cx="7315200" cy="2542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FF6B81"/>
                </a:solidFill>
                <a:latin typeface="맑은 고딕"/>
              </a:rPr>
              <a:t>02 · SOFTWARE VULNERABILITY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14477"/>
            <a:ext cx="3596335" cy="2542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1">
                <a:solidFill>
                  <a:srgbClr val="5A5C63"/>
                </a:solidFill>
                <a:latin typeface="맑은 고딕"/>
              </a:rPr>
              <a:t>PRODUCT IN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91440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A1D26"/>
                </a:solidFill>
                <a:latin typeface="맑은 고딕"/>
              </a:rPr>
              <a:t>소프트웨어 취약점을 자동으로 식별하고, 대응 우선순위를 결정합니다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4475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5A5C63"/>
                </a:solidFill>
                <a:latin typeface="맑은 고딕"/>
              </a:rPr>
              <a:t>Vendor·Product·Version부터 CVSS·EPSS·KEV까지, 자동으로 연결합니다.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13157" y="1949651"/>
            <a:ext cx="2600261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F6B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13157" y="2051739"/>
            <a:ext cx="2600261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1A1D26"/>
                </a:solidFill>
                <a:latin typeface="맑은 고딕"/>
              </a:rPr>
              <a:t>소프트웨어 자산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13157" y="2324555"/>
            <a:ext cx="2600261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6B81"/>
                </a:solidFill>
                <a:latin typeface="맑은 고딕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13157" y="2457143"/>
            <a:ext cx="2600261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F6B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13157" y="2559231"/>
            <a:ext cx="2600261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1A1D26"/>
                </a:solidFill>
                <a:latin typeface="맑은 고딕"/>
              </a:rPr>
              <a:t>Vendor / Product / Version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13157" y="2832047"/>
            <a:ext cx="2600261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6B81"/>
                </a:solidFill>
                <a:latin typeface="맑은 고딕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13157" y="2964635"/>
            <a:ext cx="2600261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F6B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513157" y="3066723"/>
            <a:ext cx="2600261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1A1D26"/>
                </a:solidFill>
                <a:latin typeface="맑은 고딕"/>
              </a:rPr>
              <a:t>CPE 자동 매핑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13157" y="3339539"/>
            <a:ext cx="2600261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6B81"/>
                </a:solidFill>
                <a:latin typeface="맑은 고딕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13157" y="3472127"/>
            <a:ext cx="2600261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F6B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513157" y="3574215"/>
            <a:ext cx="2600261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1A1D26"/>
                </a:solidFill>
                <a:latin typeface="맑은 고딕"/>
              </a:rPr>
              <a:t>CVE 식별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13157" y="3847031"/>
            <a:ext cx="2600261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6B81"/>
                </a:solidFill>
                <a:latin typeface="맑은 고딕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13157" y="3979619"/>
            <a:ext cx="2600261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F6B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513157" y="4081707"/>
            <a:ext cx="2600261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1A1D26"/>
                </a:solidFill>
                <a:latin typeface="맑은 고딕"/>
              </a:rPr>
              <a:t>CVSS + EPSS + KEV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13157" y="4354523"/>
            <a:ext cx="2600261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6B81"/>
                </a:solidFill>
                <a:latin typeface="맑은 고딕"/>
              </a:rP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13157" y="4487111"/>
            <a:ext cx="2600261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F6B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513157" y="4589199"/>
            <a:ext cx="2600261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1A1D26"/>
                </a:solidFill>
                <a:latin typeface="맑은 고딕"/>
              </a:rPr>
              <a:t>위험도 분석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13157" y="4862015"/>
            <a:ext cx="2600261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6B81"/>
                </a:solidFill>
                <a:latin typeface="맑은 고딕"/>
              </a:rPr>
              <a:t>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13157" y="4994603"/>
            <a:ext cx="2600261" cy="365760"/>
          </a:xfrm>
          <a:prstGeom prst="roundRect">
            <a:avLst>
              <a:gd name="adj" fmla="val 50000"/>
            </a:avLst>
          </a:prstGeom>
          <a:solidFill>
            <a:srgbClr val="FF6B81"/>
          </a:solidFill>
          <a:ln w="15875">
            <a:solidFill>
              <a:srgbClr val="FF6B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513157" y="5096691"/>
            <a:ext cx="2600261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패치 우선순위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55390" y="1903078"/>
            <a:ext cx="379476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5A5C63"/>
                </a:solidFill>
                <a:latin typeface="맑은 고딕"/>
              </a:rPr>
              <a:t>취약점 발견   →   위험 판단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11086" y="2221992"/>
            <a:ext cx="2482941" cy="3063240"/>
          </a:xfrm>
          <a:prstGeom prst="roundRect">
            <a:avLst>
              <a:gd name="adj" fmla="val 6000"/>
            </a:avLst>
          </a:prstGeom>
          <a:solidFill>
            <a:srgbClr val="242733"/>
          </a:solidFill>
          <a:ln w="15875">
            <a:solidFill>
              <a:srgbClr val="FF4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573164" y="2372067"/>
            <a:ext cx="1619696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300" b="1" dirty="0">
                <a:solidFill>
                  <a:srgbClr val="FFFFFF"/>
                </a:solidFill>
                <a:latin typeface="맑은 고딕"/>
              </a:rPr>
              <a:t>Nginx 1.14.1</a:t>
            </a:r>
            <a:endParaRPr sz="13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573164" y="2687077"/>
            <a:ext cx="1619696" cy="1461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950" dirty="0">
                <a:solidFill>
                  <a:srgbClr val="9AA0AE"/>
                </a:solidFill>
                <a:latin typeface="맑은 고딕"/>
              </a:rPr>
              <a:t>CVE-2023-44487</a:t>
            </a:r>
            <a:endParaRPr sz="950" dirty="0">
              <a:solidFill>
                <a:srgbClr val="9AA0AE"/>
              </a:solidFill>
              <a:latin typeface="맑은 고딕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9573164" y="3022392"/>
            <a:ext cx="1619696" cy="64735"/>
          </a:xfrm>
          <a:prstGeom prst="rect">
            <a:avLst/>
          </a:prstGeom>
          <a:solidFill>
            <a:srgbClr val="3A3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24332" y="3122789"/>
            <a:ext cx="809848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dirty="0">
                <a:solidFill>
                  <a:srgbClr val="9AA0AE"/>
                </a:solidFill>
                <a:latin typeface="맑은 고딕"/>
              </a:rPr>
              <a:t>CVSS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83012" y="3113187"/>
            <a:ext cx="809848" cy="1769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50" b="1">
                <a:solidFill>
                  <a:srgbClr val="FFFFFF"/>
                </a:solidFill>
                <a:latin typeface="맑은 고딕"/>
              </a:rPr>
              <a:t>7.5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24332" y="3454773"/>
            <a:ext cx="809848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dirty="0">
                <a:solidFill>
                  <a:srgbClr val="9AA0AE"/>
                </a:solidFill>
                <a:latin typeface="맑은 고딕"/>
              </a:rPr>
              <a:t>EPSS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83012" y="3481233"/>
            <a:ext cx="809848" cy="1769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1150" b="1" dirty="0">
                <a:solidFill>
                  <a:srgbClr val="FFFFFF"/>
                </a:solidFill>
                <a:latin typeface="맑은 고딕"/>
              </a:rPr>
              <a:t>100</a:t>
            </a:r>
            <a:r>
              <a:rPr sz="1150" b="1" dirty="0">
                <a:solidFill>
                  <a:srgbClr val="FFFFFF"/>
                </a:solidFill>
                <a:latin typeface="맑은 고딕"/>
              </a:rPr>
              <a:t>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2922" y="3832147"/>
            <a:ext cx="809848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dirty="0">
                <a:solidFill>
                  <a:srgbClr val="9AA0AE"/>
                </a:solidFill>
                <a:latin typeface="맑은 고딕"/>
              </a:rPr>
              <a:t>KEV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83012" y="3849279"/>
            <a:ext cx="809848" cy="1769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50" b="1">
                <a:solidFill>
                  <a:srgbClr val="FF4757"/>
                </a:solidFill>
                <a:latin typeface="맑은 고딕"/>
              </a:rPr>
              <a:t>YES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2922" y="4218284"/>
            <a:ext cx="809848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dirty="0">
                <a:solidFill>
                  <a:srgbClr val="9AA0AE"/>
                </a:solidFill>
                <a:latin typeface="맑은 고딕"/>
              </a:rPr>
              <a:t>Asset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83012" y="4217325"/>
            <a:ext cx="809848" cy="1769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50" b="1">
                <a:solidFill>
                  <a:srgbClr val="FF4757"/>
                </a:solidFill>
                <a:latin typeface="맑은 고딕"/>
              </a:rPr>
              <a:t>CRITICAL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71996" y="4695255"/>
            <a:ext cx="1619696" cy="387393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385799" y="4786771"/>
            <a:ext cx="1619696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맑은 고딕"/>
              </a:rPr>
              <a:t>CRITICAL · </a:t>
            </a:r>
            <a:r>
              <a:rPr sz="1100" b="1" dirty="0" err="1">
                <a:solidFill>
                  <a:srgbClr val="FFFFFF"/>
                </a:solidFill>
                <a:latin typeface="맑은 고딕"/>
              </a:rPr>
              <a:t>즉시</a:t>
            </a:r>
            <a:r>
              <a:rPr sz="11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맑은 고딕"/>
              </a:rPr>
              <a:t>대응</a:t>
            </a:r>
            <a:endParaRPr sz="11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548640" y="5532120"/>
            <a:ext cx="256032" cy="41148"/>
          </a:xfrm>
          <a:prstGeom prst="rect">
            <a:avLst/>
          </a:prstGeom>
          <a:solidFill>
            <a:srgbClr val="FF6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48640" y="5641848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1A1D26"/>
                </a:solidFill>
                <a:latin typeface="맑은 고딕"/>
              </a:rPr>
              <a:t>01 — 자동 식별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934456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5C63"/>
                </a:solidFill>
                <a:latin typeface="맑은 고딕"/>
              </a:rPr>
              <a:t>Vendor·Product·Version 기반으로 자산을 자동 식별합니다.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51960" y="5532120"/>
            <a:ext cx="256032" cy="41148"/>
          </a:xfrm>
          <a:prstGeom prst="rect">
            <a:avLst/>
          </a:prstGeom>
          <a:solidFill>
            <a:srgbClr val="FF6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251960" y="5641848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1A1D26"/>
                </a:solidFill>
                <a:latin typeface="맑은 고딕"/>
              </a:rPr>
              <a:t>02 — 자동 매핑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51960" y="5934456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5C63"/>
                </a:solidFill>
                <a:latin typeface="맑은 고딕"/>
              </a:rPr>
              <a:t>CPE ↔ CVE를 자동으로 매핑하여 취약점을 빠짐없이 연결합니다.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55280" y="5532120"/>
            <a:ext cx="256032" cy="41148"/>
          </a:xfrm>
          <a:prstGeom prst="rect">
            <a:avLst/>
          </a:prstGeom>
          <a:solidFill>
            <a:srgbClr val="FF6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955280" y="5641848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1A1D26"/>
                </a:solidFill>
                <a:latin typeface="맑은 고딕"/>
              </a:rPr>
              <a:t>03 — 위험 분석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55280" y="5934456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5C63"/>
                </a:solidFill>
                <a:latin typeface="맑은 고딕"/>
              </a:rPr>
              <a:t>CVSS + EPSS + KEV 기반으로 대응 우선순위를 산출합니다.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5CADBA56-D909-B67A-9C0C-08F00E2D9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004" y="1967652"/>
            <a:ext cx="4713221" cy="3063240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01985735-CBD6-D01E-4D92-F00A7CF52B12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0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737759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8307D-C5AD-F865-40B5-666E949FA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77295" y="635508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5A5C63"/>
                </a:solidFill>
                <a:latin typeface="맑은 고딕"/>
              </a:rPr>
              <a:t>15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7201"/>
            <a:ext cx="683971" cy="170078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822960" y="678485"/>
            <a:ext cx="88697" cy="88697"/>
          </a:xfrm>
          <a:prstGeom prst="ellipse">
            <a:avLst/>
          </a:prstGeom>
          <a:solidFill>
            <a:srgbClr val="22B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5957" y="614477"/>
            <a:ext cx="7315200" cy="2542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2B87A"/>
                </a:solidFill>
                <a:latin typeface="맑은 고딕"/>
              </a:rPr>
              <a:t>03 · NETWORK EXPOSURE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14477"/>
            <a:ext cx="3596335" cy="2542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1">
                <a:solidFill>
                  <a:srgbClr val="5A5C63"/>
                </a:solidFill>
                <a:latin typeface="맑은 고딕"/>
              </a:rPr>
              <a:t>PRODUCT IN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91440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A1D26"/>
                </a:solidFill>
                <a:latin typeface="맑은 고딕"/>
              </a:rPr>
              <a:t>외부에 노출된 공격 표면까지 확인합니다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4475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5A5C63"/>
                </a:solidFill>
                <a:latin typeface="맑은 고딕"/>
              </a:rPr>
              <a:t>IP·Port·Service를 분석하여 노출된 서비스와 잠재적인 공격 접점을 식별합니다.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47088"/>
            <a:ext cx="5577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22B87A"/>
                </a:solidFill>
                <a:latin typeface="맑은 고딕"/>
              </a:rPr>
              <a:t>IP / PORT / SERVICE SCAN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37360" y="2176272"/>
            <a:ext cx="3200400" cy="1874520"/>
          </a:xfrm>
          <a:prstGeom prst="roundRect">
            <a:avLst>
              <a:gd name="adj" fmla="val 5000"/>
            </a:avLst>
          </a:prstGeom>
          <a:solidFill>
            <a:srgbClr val="24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38528" y="2377440"/>
            <a:ext cx="2798064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200" b="1" dirty="0">
                <a:solidFill>
                  <a:srgbClr val="FFFFFF"/>
                </a:solidFill>
                <a:latin typeface="맑은 고딕"/>
              </a:rPr>
              <a:t>192.168.0.0~192.168.0.200</a:t>
            </a:r>
            <a:endParaRPr sz="12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938528" y="2724912"/>
            <a:ext cx="2798064" cy="10058"/>
          </a:xfrm>
          <a:prstGeom prst="rect">
            <a:avLst/>
          </a:prstGeom>
          <a:solidFill>
            <a:srgbClr val="3A3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38528" y="3088386"/>
            <a:ext cx="895380" cy="2537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dirty="0">
                <a:solidFill>
                  <a:srgbClr val="22B87A"/>
                </a:solidFill>
                <a:latin typeface="맑은 고딕"/>
              </a:rPr>
              <a:t>:80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3908" y="3088386"/>
            <a:ext cx="1902684" cy="2537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dirty="0">
                <a:solidFill>
                  <a:srgbClr val="E3E5EA"/>
                </a:solidFill>
                <a:latin typeface="맑은 고딕"/>
              </a:rPr>
              <a:t>Apache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38528" y="3342132"/>
            <a:ext cx="895380" cy="2537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22B87A"/>
                </a:solidFill>
                <a:latin typeface="맑은 고딕"/>
              </a:rPr>
              <a:t>:443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3908" y="3342132"/>
            <a:ext cx="1902684" cy="2537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E3E5EA"/>
                </a:solidFill>
                <a:latin typeface="맑은 고딕"/>
              </a:rPr>
              <a:t>Nginx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14223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22B87A"/>
                </a:solidFill>
                <a:latin typeface="맑은 고딕"/>
              </a:rP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48840" y="4398264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2B8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48840" y="4398264"/>
            <a:ext cx="2377440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1A1D26"/>
                </a:solidFill>
                <a:latin typeface="맑은 고딕"/>
              </a:rPr>
              <a:t>Service / Version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4764024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22B87A"/>
                </a:solidFill>
                <a:latin typeface="맑은 고딕"/>
              </a:rPr>
              <a:t>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48840" y="498348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2B8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148840" y="4983480"/>
            <a:ext cx="2377440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1A1D26"/>
                </a:solidFill>
                <a:latin typeface="맑은 고딕"/>
              </a:rPr>
              <a:t>CVE Mapping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5349240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22B87A"/>
                </a:solidFill>
                <a:latin typeface="맑은 고딕"/>
              </a:rPr>
              <a:t>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48840" y="5568696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22B87A"/>
          </a:solidFill>
          <a:ln w="15875">
            <a:solidFill>
              <a:srgbClr val="22B8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148840" y="5568696"/>
            <a:ext cx="2377440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Risk Assessment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6117336"/>
            <a:ext cx="5029200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E2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6041441"/>
            <a:ext cx="5029200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50" b="1" dirty="0" err="1">
                <a:solidFill>
                  <a:srgbClr val="5A5C63"/>
                </a:solidFill>
                <a:latin typeface="맑은 고딕"/>
              </a:rPr>
              <a:t>정책</a:t>
            </a:r>
            <a:r>
              <a:rPr sz="950" b="1" dirty="0">
                <a:solidFill>
                  <a:srgbClr val="5A5C63"/>
                </a:solidFill>
                <a:latin typeface="맑은 고딕"/>
              </a:rPr>
              <a:t> </a:t>
            </a:r>
            <a:r>
              <a:rPr sz="950" b="1" dirty="0" err="1">
                <a:solidFill>
                  <a:srgbClr val="5A5C63"/>
                </a:solidFill>
                <a:latin typeface="맑은 고딕"/>
              </a:rPr>
              <a:t>기반</a:t>
            </a:r>
            <a:r>
              <a:rPr sz="950" b="1" dirty="0">
                <a:solidFill>
                  <a:srgbClr val="5A5C63"/>
                </a:solidFill>
                <a:latin typeface="맑은 고딕"/>
              </a:rPr>
              <a:t> </a:t>
            </a:r>
            <a:r>
              <a:rPr sz="950" b="1" dirty="0" err="1">
                <a:solidFill>
                  <a:srgbClr val="5A5C63"/>
                </a:solidFill>
                <a:latin typeface="맑은 고딕"/>
              </a:rPr>
              <a:t>스캔</a:t>
            </a:r>
            <a:r>
              <a:rPr sz="950" b="1" dirty="0">
                <a:solidFill>
                  <a:srgbClr val="5A5C63"/>
                </a:solidFill>
                <a:latin typeface="맑은 고딕"/>
              </a:rPr>
              <a:t> </a:t>
            </a:r>
            <a:r>
              <a:rPr sz="950" b="1" dirty="0" err="1">
                <a:solidFill>
                  <a:srgbClr val="5A5C63"/>
                </a:solidFill>
                <a:latin typeface="맑은 고딕"/>
              </a:rPr>
              <a:t>제어</a:t>
            </a:r>
            <a:r>
              <a:rPr sz="950" b="1" dirty="0">
                <a:solidFill>
                  <a:srgbClr val="5A5C63"/>
                </a:solidFill>
                <a:latin typeface="맑은 고딕"/>
              </a:rPr>
              <a:t> · Blacklist / Whitelist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4830747"/>
            <a:ext cx="50749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5A5C63"/>
                </a:solidFill>
                <a:latin typeface="맑은 고딕"/>
              </a:rPr>
              <a:t>실제 화면 · 정책 기반 스캔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2279F411-6990-AEBE-DD68-505C3B5E1E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767947"/>
            <a:ext cx="5440452" cy="302437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BA13596-8CA3-8ECE-647C-384414AC2DA5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0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A24744-1296-8E13-B829-B06DB9465F02}"/>
              </a:ext>
            </a:extLst>
          </p:cNvPr>
          <p:cNvSpPr txBox="1"/>
          <p:nvPr/>
        </p:nvSpPr>
        <p:spPr>
          <a:xfrm>
            <a:off x="1938528" y="2826410"/>
            <a:ext cx="89538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ko-KR" altLang="en-US" sz="1050" b="1" dirty="0">
                <a:solidFill>
                  <a:srgbClr val="22B87A"/>
                </a:solidFill>
                <a:latin typeface="맑은 고딕"/>
              </a:rPr>
              <a:t>정책</a:t>
            </a:r>
            <a:r>
              <a:rPr lang="en-US" altLang="ko-KR" sz="1050" b="1" dirty="0">
                <a:solidFill>
                  <a:srgbClr val="22B87A"/>
                </a:solidFill>
                <a:latin typeface="맑은 고딕"/>
              </a:rPr>
              <a:t>:</a:t>
            </a:r>
            <a:endParaRPr sz="1050" b="1" dirty="0">
              <a:solidFill>
                <a:srgbClr val="22B87A"/>
              </a:solidFill>
              <a:latin typeface="맑은 고딕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BB5ED8D-2FB1-7122-92C6-D9178C124567}"/>
              </a:ext>
            </a:extLst>
          </p:cNvPr>
          <p:cNvSpPr txBox="1"/>
          <p:nvPr/>
        </p:nvSpPr>
        <p:spPr>
          <a:xfrm>
            <a:off x="2857428" y="2808122"/>
            <a:ext cx="1902684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050" b="0" dirty="0">
                <a:solidFill>
                  <a:srgbClr val="E3E5EA"/>
                </a:solidFill>
                <a:latin typeface="맑은 고딕"/>
              </a:rPr>
              <a:t>whitelist</a:t>
            </a:r>
            <a:endParaRPr sz="1050" b="0" dirty="0">
              <a:solidFill>
                <a:srgbClr val="E3E5EA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5697172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77295" y="635508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5A5C63"/>
                </a:solidFill>
                <a:latin typeface="맑은 고딕"/>
              </a:rPr>
              <a:t>16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7201"/>
            <a:ext cx="683971" cy="170078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822960" y="678485"/>
            <a:ext cx="88697" cy="88697"/>
          </a:xfrm>
          <a:prstGeom prst="ellipse">
            <a:avLst/>
          </a:prstGeom>
          <a:solidFill>
            <a:srgbClr val="3BA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5957" y="614477"/>
            <a:ext cx="7315200" cy="2542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3BA2F2"/>
                </a:solidFill>
                <a:latin typeface="맑은 고딕"/>
              </a:rPr>
              <a:t>04 · RISK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14477"/>
            <a:ext cx="3596335" cy="2542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50" b="1">
                <a:solidFill>
                  <a:srgbClr val="5A5C63"/>
                </a:solidFill>
                <a:latin typeface="맑은 고딕"/>
              </a:rPr>
              <a:t>PRODUCT IN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91440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A1D26"/>
                </a:solidFill>
                <a:latin typeface="맑은 고딕"/>
              </a:rPr>
              <a:t>탐지 결과를 실제 대응 우선순위로 연결합니다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4475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5A5C63"/>
                </a:solidFill>
                <a:latin typeface="맑은 고딕"/>
              </a:rPr>
              <a:t>포트·서비스·CVE·위험도를 연결해, 무엇을 먼저 조치해야 할지 알려줍니다.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449123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3BA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692" y="4558906"/>
            <a:ext cx="904094" cy="14619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950" b="1" dirty="0">
                <a:solidFill>
                  <a:srgbClr val="1A1D26"/>
                </a:solidFill>
                <a:latin typeface="맑은 고딕"/>
              </a:rPr>
              <a:t>192.168.0.30</a:t>
            </a:r>
            <a:r>
              <a:rPr sz="950" b="1" dirty="0">
                <a:solidFill>
                  <a:srgbClr val="1A1D26"/>
                </a:solidFill>
                <a:latin typeface="맑은 고딕"/>
              </a:rPr>
              <a:t>:</a:t>
            </a:r>
            <a:r>
              <a:rPr lang="en-US" sz="950" b="1" dirty="0">
                <a:solidFill>
                  <a:srgbClr val="1A1D26"/>
                </a:solidFill>
                <a:latin typeface="맑은 고딕"/>
              </a:rPr>
              <a:t>22</a:t>
            </a:r>
            <a:endParaRPr sz="950" b="1" dirty="0">
              <a:solidFill>
                <a:srgbClr val="1A1D26"/>
              </a:solidFill>
              <a:latin typeface="맑은 고딕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148840" y="4449123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3BA2F2"/>
                </a:solidFill>
                <a:latin typeface="맑은 고딕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23160" y="4449123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3BA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2843349" y="4558906"/>
            <a:ext cx="759823" cy="14619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950" b="1" dirty="0">
                <a:solidFill>
                  <a:srgbClr val="1A1D26"/>
                </a:solidFill>
                <a:latin typeface="맑은 고딕"/>
              </a:rPr>
              <a:t>OpenSSH 8.0</a:t>
            </a:r>
            <a:endParaRPr sz="950" b="1" dirty="0">
              <a:solidFill>
                <a:srgbClr val="1A1D26"/>
              </a:solidFill>
              <a:latin typeface="맑은 고딕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023360" y="4449123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3BA2F2"/>
                </a:solidFill>
                <a:latin typeface="맑은 고딕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4449123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3BA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7680" y="4558906"/>
            <a:ext cx="960199" cy="14619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950" b="1" dirty="0">
                <a:solidFill>
                  <a:srgbClr val="1A1D26"/>
                </a:solidFill>
                <a:latin typeface="맑은 고딕"/>
              </a:rPr>
              <a:t>CVE-2016-20012</a:t>
            </a:r>
            <a:endParaRPr sz="950" b="1" dirty="0">
              <a:solidFill>
                <a:srgbClr val="1A1D26"/>
              </a:solidFill>
              <a:latin typeface="맑은 고딕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46520" y="1874520"/>
            <a:ext cx="519379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5A5C63"/>
                </a:solidFill>
                <a:latin typeface="맑은 고딕"/>
              </a:rPr>
              <a:t>무엇이 열려 있는가?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148840"/>
            <a:ext cx="5193792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600" b="1" dirty="0">
                <a:solidFill>
                  <a:srgbClr val="1A1D26"/>
                </a:solidFill>
                <a:latin typeface="맑은 고딕"/>
              </a:rPr>
              <a:t>22</a:t>
            </a:r>
            <a:r>
              <a:rPr sz="1600" b="1" dirty="0">
                <a:solidFill>
                  <a:srgbClr val="1A1D26"/>
                </a:solidFill>
                <a:latin typeface="맑은 고딕"/>
              </a:rPr>
              <a:t> / </a:t>
            </a:r>
            <a:r>
              <a:rPr lang="en-US" sz="1600" b="1" dirty="0">
                <a:solidFill>
                  <a:srgbClr val="1A1D26"/>
                </a:solidFill>
                <a:latin typeface="맑은 고딕"/>
              </a:rPr>
              <a:t>SSH</a:t>
            </a:r>
            <a:endParaRPr sz="1600" b="1" dirty="0">
              <a:solidFill>
                <a:srgbClr val="1A1D26"/>
              </a:solidFill>
              <a:latin typeface="맑은 고딕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46520" y="2587752"/>
            <a:ext cx="5193792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1" dirty="0">
                <a:solidFill>
                  <a:srgbClr val="3BA2F2"/>
                </a:solidFill>
                <a:latin typeface="맑은 고딕"/>
              </a:rPr>
              <a:t>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898648"/>
            <a:ext cx="519379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5A5C63"/>
                </a:solidFill>
                <a:latin typeface="맑은 고딕"/>
              </a:rPr>
              <a:t>무엇이 취약한가?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172968"/>
            <a:ext cx="5193792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600" b="1" dirty="0">
                <a:solidFill>
                  <a:srgbClr val="1A1D26"/>
                </a:solidFill>
                <a:latin typeface="맑은 고딕"/>
              </a:rPr>
              <a:t>CVE-2016-20012</a:t>
            </a:r>
            <a:endParaRPr sz="1600" b="1" dirty="0">
              <a:solidFill>
                <a:srgbClr val="1A1D26"/>
              </a:solidFill>
              <a:latin typeface="맑은 고딕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46520" y="3611880"/>
            <a:ext cx="5193792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 dirty="0">
                <a:solidFill>
                  <a:srgbClr val="3BA2F2"/>
                </a:solidFill>
                <a:latin typeface="맑은 고딕"/>
              </a:rPr>
              <a:t>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922776"/>
            <a:ext cx="519379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5A5C63"/>
                </a:solidFill>
                <a:latin typeface="맑은 고딕"/>
              </a:rPr>
              <a:t>얼마나 위험한가?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197096"/>
            <a:ext cx="5193792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dirty="0">
                <a:solidFill>
                  <a:srgbClr val="FF4757"/>
                </a:solidFill>
                <a:latin typeface="맑은 고딕"/>
              </a:rPr>
              <a:t>CVSS 9</a:t>
            </a:r>
            <a:r>
              <a:rPr lang="en-US" sz="1600" b="1" dirty="0">
                <a:solidFill>
                  <a:srgbClr val="FF4757"/>
                </a:solidFill>
                <a:latin typeface="맑은 고딕"/>
              </a:rPr>
              <a:t>5.3</a:t>
            </a:r>
            <a:r>
              <a:rPr sz="1600" b="1" dirty="0">
                <a:solidFill>
                  <a:srgbClr val="FF4757"/>
                </a:solidFill>
                <a:latin typeface="맑은 고딕"/>
              </a:rPr>
              <a:t>   ·   EPSS 8</a:t>
            </a:r>
            <a:r>
              <a:rPr lang="en-US" sz="1600" b="1" dirty="0">
                <a:solidFill>
                  <a:srgbClr val="FF4757"/>
                </a:solidFill>
                <a:latin typeface="맑은 고딕"/>
              </a:rPr>
              <a:t>91.98</a:t>
            </a:r>
            <a:r>
              <a:rPr sz="1600" b="1" dirty="0">
                <a:solidFill>
                  <a:srgbClr val="FF4757"/>
                </a:solidFill>
                <a:latin typeface="맑은 고딕"/>
              </a:rPr>
              <a:t>%   ·   KEV </a:t>
            </a:r>
            <a:r>
              <a:rPr lang="en-US" sz="1600" b="1" dirty="0">
                <a:solidFill>
                  <a:srgbClr val="FF4757"/>
                </a:solidFill>
                <a:latin typeface="맑은 고딕"/>
              </a:rPr>
              <a:t>NO</a:t>
            </a:r>
            <a:endParaRPr sz="1600" b="1" dirty="0">
              <a:solidFill>
                <a:srgbClr val="FF4757"/>
              </a:solidFill>
              <a:latin typeface="맑은 고딕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46520" y="4636008"/>
            <a:ext cx="5193792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 dirty="0">
                <a:solidFill>
                  <a:srgbClr val="3BA2F2"/>
                </a:solidFill>
                <a:latin typeface="맑은 고딕"/>
              </a:rPr>
              <a:t>↓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11B8EE74-AF5D-0245-E75E-0883EBA12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99" y="1837944"/>
            <a:ext cx="5510701" cy="2391751"/>
          </a:xfrm>
          <a:prstGeom prst="rect">
            <a:avLst/>
          </a:prstGeom>
        </p:spPr>
      </p:pic>
      <p:sp>
        <p:nvSpPr>
          <p:cNvPr id="37" name="Rounded Rectangle 30">
            <a:extLst>
              <a:ext uri="{FF2B5EF4-FFF2-40B4-BE49-F238E27FC236}">
                <a16:creationId xmlns:a16="http://schemas.microsoft.com/office/drawing/2014/main" id="{2FBC75BF-AA66-3102-002A-1BB7E49F7122}"/>
              </a:ext>
            </a:extLst>
          </p:cNvPr>
          <p:cNvSpPr/>
          <p:nvPr/>
        </p:nvSpPr>
        <p:spPr>
          <a:xfrm>
            <a:off x="7003416" y="4934585"/>
            <a:ext cx="4080000" cy="340000"/>
          </a:xfrm>
          <a:prstGeom prst="roundRect">
            <a:avLst>
              <a:gd name="adj" fmla="val 50000"/>
            </a:avLst>
          </a:prstGeom>
          <a:solidFill>
            <a:srgbClr val="2A2D38"/>
          </a:solidFill>
          <a:ln w="12700">
            <a:solidFill>
              <a:srgbClr val="3A3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C9CDD8"/>
                </a:solidFill>
                <a:latin typeface="맑은 고딕"/>
              </a:rPr>
              <a:t>낮은 우선순위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CD834B6-D8C8-DA8E-42C5-87933D1A54B2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0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41690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1392</Words>
  <Application>Microsoft Office PowerPoint</Application>
  <PresentationFormat>Widescreen</PresentationFormat>
  <Paragraphs>371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맑은 고딕</vt:lpstr>
      <vt:lpstr>Pretendard</vt:lpstr>
      <vt:lpstr>Aptos</vt:lpstr>
      <vt:lpstr>Arial</vt:lpstr>
      <vt:lpstr>Calibri</vt:lpstr>
      <vt:lpstr>Consolas</vt:lpstr>
      <vt:lpstr>Segoe MDL2 Assets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Bayarchimeg Kalina</dc:creator>
  <cp:keywords/>
  <dc:description>generated using python-pptx</dc:description>
  <cp:lastModifiedBy>bingo cvm3</cp:lastModifiedBy>
  <cp:revision>29</cp:revision>
  <dcterms:created xsi:type="dcterms:W3CDTF">2013-01-27T09:14:16Z</dcterms:created>
  <dcterms:modified xsi:type="dcterms:W3CDTF">2026-08-28T00:55:22Z</dcterms:modified>
  <cp:category/>
</cp:coreProperties>
</file>